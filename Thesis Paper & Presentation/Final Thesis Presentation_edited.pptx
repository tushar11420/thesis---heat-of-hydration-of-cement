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rts/chart1.xml" ContentType="application/vnd.openxmlformats-officedocument.drawingml.chart+xml"/>
  <Override PartName="/ppt/notesSlides/notesSlide22.xml" ContentType="application/vnd.openxmlformats-officedocument.presentationml.notesSlide+xml"/>
  <Override PartName="/ppt/charts/chart2.xml" ContentType="application/vnd.openxmlformats-officedocument.drawingml.chart+xml"/>
  <Override PartName="/ppt/notesSlides/notesSlide23.xml" ContentType="application/vnd.openxmlformats-officedocument.presentationml.notesSlide+xml"/>
  <Override PartName="/ppt/charts/chart3.xml" ContentType="application/vnd.openxmlformats-officedocument.drawingml.chart+xml"/>
  <Override PartName="/ppt/notesSlides/notesSlide24.xml" ContentType="application/vnd.openxmlformats-officedocument.presentationml.notesSlide+xml"/>
  <Override PartName="/ppt/charts/chart4.xml" ContentType="application/vnd.openxmlformats-officedocument.drawingml.chart+xml"/>
  <Override PartName="/ppt/notesSlides/notesSlide25.xml" ContentType="application/vnd.openxmlformats-officedocument.presentationml.notesSlide+xml"/>
  <Override PartName="/ppt/charts/chart5.xml" ContentType="application/vnd.openxmlformats-officedocument.drawingml.chart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2"/>
  </p:sldMasterIdLst>
  <p:notesMasterIdLst>
    <p:notesMasterId r:id="rId36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89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6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heme" Target="theme/them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Cumulative heat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CEM I</c:v>
                </c:pt>
                <c:pt idx="1">
                  <c:v>A-M R</c:v>
                </c:pt>
                <c:pt idx="2">
                  <c:v>A-M N</c:v>
                </c:pt>
                <c:pt idx="3">
                  <c:v>B-M 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467</c:v>
                </c:pt>
                <c:pt idx="1">
                  <c:v>433</c:v>
                </c:pt>
                <c:pt idx="2">
                  <c:v>270</c:v>
                </c:pt>
                <c:pt idx="3">
                  <c:v>250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CB1-4537-B8CE-DC90F1AE31B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50"/>
          <c:min val="0"/>
        </c:scaling>
        <c:delete val="0"/>
        <c:axPos val="l"/>
        <c:majorGridlines>
          <c:spPr>
            <a:ln w="12700" cap="flat" cmpd="sng" algn="ctr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3155f379-b54e-4a7c-93ce-46ac03280e5e}"/>
      </c:ext>
    </c:extLst>
  </c:chart>
  <c:spPr>
    <a:noFill/>
    <a:ln>
      <a:noFill/>
    </a:ln>
    <a:effectLst/>
  </c:spPr>
  <c:txPr>
    <a:bodyPr/>
    <a:lstStyle/>
    <a:p>
      <a:pPr>
        <a:defRPr lang="en-US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Experimental (J/g)</c:v>
                </c:pt>
              </c:strCache>
            </c:strRef>
          </c:tx>
          <c:spPr>
            <a:solidFill>
              <a:srgbClr val="065A7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CEM I 52.5N</c:v>
                </c:pt>
                <c:pt idx="1">
                  <c:v>CEM II A-M 42.5R</c:v>
                </c:pt>
                <c:pt idx="2">
                  <c:v>CEM II A-M 42.5N</c:v>
                </c:pt>
                <c:pt idx="3">
                  <c:v>CEM II B-M 42.5N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467</c:v>
                </c:pt>
                <c:pt idx="1">
                  <c:v>433</c:v>
                </c:pt>
                <c:pt idx="2">
                  <c:v>284</c:v>
                </c:pt>
                <c:pt idx="3">
                  <c:v>255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A56-4BA9-AAB3-52B3CA85E5F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Gauss-2 Fit (J/g)</c:v>
                </c:pt>
              </c:strCache>
            </c:strRef>
          </c:tx>
          <c:spPr>
            <a:solidFill>
              <a:srgbClr val="1A9CB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CEM I 52.5N</c:v>
                </c:pt>
                <c:pt idx="1">
                  <c:v>CEM II A-M 42.5R</c:v>
                </c:pt>
                <c:pt idx="2">
                  <c:v>CEM II A-M 42.5N</c:v>
                </c:pt>
                <c:pt idx="3">
                  <c:v>CEM II B-M 42.5N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438</c:v>
                </c:pt>
                <c:pt idx="1">
                  <c:v>447</c:v>
                </c:pt>
                <c:pt idx="2">
                  <c:v>262</c:v>
                </c:pt>
                <c:pt idx="3">
                  <c:v>242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A56-4BA9-AAB3-52B3CA85E5F7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3A4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50"/>
        </c:scaling>
        <c:delete val="0"/>
        <c:axPos val="l"/>
        <c:majorGridlines>
          <c:spPr>
            <a:ln w="6350" cap="flat">
              <a:solidFill>
                <a:srgbClr val="D9E2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3A4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/>
          </a:pPr>
          <a:endParaRPr lang="en-US"/>
        </a:p>
      </c:txPr>
    </c:legend>
    <c:plotVisOnly val="1"/>
    <c:dispBlanksAs val="span"/>
    <c:showDLblsOverMax val="1"/>
  </c:chart>
  <c:spPr>
    <a:solidFill>
      <a:srgbClr val="F4F8FB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DOH at 19 h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dirty="0"/>
                      <a:t>0.82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0D7F-495E-B0B8-D965E4C166ED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dirty="0"/>
                      <a:t>0.95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0D7F-495E-B0B8-D965E4C166ED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0.82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0D7F-495E-B0B8-D965E4C166ED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/>
                      <a:t>0.80</a:t>
                    </a:r>
                    <a:endParaRPr lang="en-US" dirty="0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0D7F-495E-B0B8-D965E4C166ED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CEM I</c:v>
                </c:pt>
                <c:pt idx="1">
                  <c:v>A-M N</c:v>
                </c:pt>
                <c:pt idx="2">
                  <c:v>B-M N</c:v>
                </c:pt>
                <c:pt idx="3">
                  <c:v>A-M 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0.82</c:v>
                </c:pt>
                <c:pt idx="1">
                  <c:v>0.95</c:v>
                </c:pt>
                <c:pt idx="2">
                  <c:v>0.82499999999999996</c:v>
                </c:pt>
                <c:pt idx="3">
                  <c:v>0.8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1B7-4DC0-A654-7AAE5D3E477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vert="horz"/>
          <a:lstStyle/>
          <a:p>
            <a:pPr>
              <a:defRPr sz="1400"/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 cmpd="sng" algn="ctr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vert="horz"/>
          <a:lstStyle/>
          <a:p>
            <a:pPr>
              <a:defRPr sz="1400"/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a45fea3d-2448-4f16-b02c-afb5c753d110}"/>
      </c:ext>
    </c:extLst>
  </c:chart>
  <c:spPr>
    <a:noFill/>
    <a:ln>
      <a:noFill/>
    </a:ln>
    <a:effectLst/>
  </c:spPr>
  <c:txPr>
    <a:bodyPr/>
    <a:lstStyle/>
    <a:p>
      <a:pPr>
        <a:defRPr lang="en-US" sz="12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Heat release at 19 h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dLbl>
              <c:idx val="3"/>
              <c:tx>
                <c:rich>
                  <a:bodyPr/>
                  <a:lstStyle/>
                  <a:p>
                    <a:r>
                      <a:rPr lang="en-US"/>
                      <a:t>445</a:t>
                    </a:r>
                    <a:endParaRPr lang="en-US" dirty="0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3FFE-42C4-9A48-625648FAF7FA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CEM I</c:v>
                </c:pt>
                <c:pt idx="1">
                  <c:v>A-M N</c:v>
                </c:pt>
                <c:pt idx="2">
                  <c:v>B-M N</c:v>
                </c:pt>
                <c:pt idx="3">
                  <c:v>A-M 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480</c:v>
                </c:pt>
                <c:pt idx="1">
                  <c:v>390</c:v>
                </c:pt>
                <c:pt idx="2">
                  <c:v>348</c:v>
                </c:pt>
                <c:pt idx="3">
                  <c:v>480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EB0-4733-99DB-32CEC7A5C1D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20"/>
          <c:min val="0"/>
        </c:scaling>
        <c:delete val="0"/>
        <c:axPos val="l"/>
        <c:majorGridlines>
          <c:spPr>
            <a:ln w="12700" cap="flat" cmpd="sng" algn="ctr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765783a0-2cd7-4b30-ab1e-9b1c069a207e}"/>
      </c:ext>
    </c:extLst>
  </c:chart>
  <c:spPr>
    <a:noFill/>
    <a:ln>
      <a:noFill/>
    </a:ln>
    <a:effectLst/>
  </c:spPr>
  <c:txPr>
    <a:bodyPr/>
    <a:lstStyle/>
    <a:p>
      <a:pPr>
        <a:defRPr lang="en-US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Experimental Q (J/g)</c:v>
                </c:pt>
              </c:strCache>
            </c:strRef>
          </c:tx>
          <c:spPr>
            <a:solidFill>
              <a:srgbClr val="065A7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CEM I 52.5N</c:v>
                </c:pt>
                <c:pt idx="1">
                  <c:v>CEM II A-M 42.5R</c:v>
                </c:pt>
                <c:pt idx="2">
                  <c:v>CEM II A-M 42.5N</c:v>
                </c:pt>
                <c:pt idx="3">
                  <c:v>CEM II B-M 42.5N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467</c:v>
                </c:pt>
                <c:pt idx="1">
                  <c:v>433</c:v>
                </c:pt>
                <c:pt idx="2">
                  <c:v>284</c:v>
                </c:pt>
                <c:pt idx="3">
                  <c:v>255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EB5-4F0F-B4D6-0A5BF8B107A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VCCTL predicted (kJ/kg)</c:v>
                </c:pt>
              </c:strCache>
            </c:strRef>
          </c:tx>
          <c:spPr>
            <a:solidFill>
              <a:srgbClr val="D1A83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CEM I 52.5N</c:v>
                </c:pt>
                <c:pt idx="1">
                  <c:v>CEM II A-M 42.5R</c:v>
                </c:pt>
                <c:pt idx="2">
                  <c:v>CEM II A-M 42.5N</c:v>
                </c:pt>
                <c:pt idx="3">
                  <c:v>CEM II B-M 42.5N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480</c:v>
                </c:pt>
                <c:pt idx="1">
                  <c:v>445</c:v>
                </c:pt>
                <c:pt idx="2">
                  <c:v>390</c:v>
                </c:pt>
                <c:pt idx="3">
                  <c:v>348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EB5-4F0F-B4D6-0A5BF8B107A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3A4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60"/>
        </c:scaling>
        <c:delete val="0"/>
        <c:axPos val="l"/>
        <c:majorGridlines>
          <c:spPr>
            <a:ln w="6350" cap="flat">
              <a:solidFill>
                <a:srgbClr val="D9E2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3A4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/>
          </a:pPr>
          <a:endParaRPr lang="en-US"/>
        </a:p>
      </c:txPr>
    </c:legend>
    <c:plotVisOnly val="1"/>
    <c:dispBlanksAs val="span"/>
    <c:showDLblsOverMax val="1"/>
  </c:chart>
  <c:spPr>
    <a:solidFill>
      <a:srgbClr val="F4F8F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6/13/2026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FF71C-FE4E-BBB2-A81A-1E8E5078D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A18654-46D7-3B35-271A-5C945E0A10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B14C7D-0870-E826-8987-11F0B9078F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F36EE5-33C8-0047-72EB-18968DC725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35623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27AFDE-FB3E-2931-5B2B-3AD527D4F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069540-E8F9-E506-9F00-F84D08AE13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609CDE-97FA-0876-C47A-9D9B9AD9E1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52214E-DA74-0DDF-2195-C1489B2195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05269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C5A69-A8B2-D1BB-2DA0-463491C75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594D91-D682-DE0C-4F44-97A6BCACAC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3DE728-961A-47BB-92FB-707A55A4A0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D5F1D6-5B58-5976-B785-C995D11E64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03724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B860D-D4CA-F2AB-559F-1DCCCF5DB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73461C-F43E-1971-0738-D377527E8C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9C667A-288F-88E3-B9EB-EAB413D518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2E8913-CC03-45A1-F51B-09F8739D4F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35060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DOH values. Explain that isothermal VCCTL may differ in absolute numbers, but trend validation is the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connect validation with conclusions. The simulated values support the experimental interpretation.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51290D4-F1BD-5027-F8FB-A1BB902ADA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594610" y="4787266"/>
            <a:ext cx="268605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8243F6-8631-4F51-BD81-82C0543E19ED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emf"/><Relationship Id="rId4" Type="http://schemas.openxmlformats.org/officeDocument/2006/relationships/image" Target="../media/image7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jpg"/><Relationship Id="rId4" Type="http://schemas.openxmlformats.org/officeDocument/2006/relationships/image" Target="../media/image19.jp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unpacked/ppt/media/image14.jpg"/>
          <p:cNvPicPr>
            <a:picLocks noChangeAspect="1"/>
          </p:cNvPicPr>
          <p:nvPr/>
        </p:nvPicPr>
        <p:blipFill>
          <a:blip r:embed="rId3">
            <a:alphaModFix amt="65000"/>
          </a:blip>
          <a:srcRect/>
          <a:stretch>
            <a:fillRect/>
          </a:stretch>
        </p:blipFill>
        <p:spPr>
          <a:xfrm>
            <a:off x="5394960" y="0"/>
            <a:ext cx="374904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12080" y="0"/>
            <a:ext cx="3931920" cy="5143500"/>
          </a:xfrm>
          <a:prstGeom prst="rect">
            <a:avLst/>
          </a:prstGeom>
          <a:solidFill>
            <a:srgbClr val="102A43">
              <a:alpha val="60000"/>
            </a:srgbClr>
          </a:solidFill>
          <a:ln w="12700">
            <a:solidFill>
              <a:srgbClr val="102A43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1" descr="/home/claude/unpacked/ppt/media/image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320040"/>
            <a:ext cx="822960" cy="8229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325880" y="320040"/>
            <a:ext cx="5093335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50" dirty="0">
                <a:solidFill>
                  <a:srgbClr val="82C5D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BANGLADESH UNIVERSITY OF ENGINEERING AND TECHNOLOGY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1325880" y="71323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rgbClr val="1A9C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Department of Civil Engineering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411480" y="1170432"/>
            <a:ext cx="4754880" cy="0"/>
          </a:xfrm>
          <a:prstGeom prst="line">
            <a:avLst/>
          </a:prstGeom>
          <a:noFill/>
          <a:ln w="19050">
            <a:solidFill>
              <a:srgbClr val="0B72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411480" y="1280160"/>
            <a:ext cx="4663440" cy="1554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Heat of Hydration of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Portland and Composite Cements</a:t>
            </a:r>
            <a:endParaRPr lang="en-US" sz="3000" dirty="0"/>
          </a:p>
        </p:txBody>
      </p:sp>
      <p:sp>
        <p:nvSpPr>
          <p:cNvPr id="9" name="Text 5"/>
          <p:cNvSpPr/>
          <p:nvPr/>
        </p:nvSpPr>
        <p:spPr>
          <a:xfrm>
            <a:off x="411480" y="2715895"/>
            <a:ext cx="46634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1A9C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Under Semi-Adiabatic Conditions</a:t>
            </a:r>
            <a:endParaRPr lang="en-US" sz="2400" dirty="0"/>
          </a:p>
        </p:txBody>
      </p:sp>
      <p:sp>
        <p:nvSpPr>
          <p:cNvPr id="12" name="Shape 8"/>
          <p:cNvSpPr/>
          <p:nvPr/>
        </p:nvSpPr>
        <p:spPr>
          <a:xfrm>
            <a:off x="411480" y="3840480"/>
            <a:ext cx="2240280" cy="9144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1A9CB0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502920" y="4105656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Zisan Zia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502920" y="4407408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2C5D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ID: 2004153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2788920" y="3840480"/>
            <a:ext cx="2240280" cy="9144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1A9CB0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2880360" y="4105656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Abdur Nur Tushar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2880360" y="4407408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2C5D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ID: 2004061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5486400" y="4480560"/>
            <a:ext cx="3383280" cy="502920"/>
          </a:xfrm>
          <a:prstGeom prst="rect">
            <a:avLst/>
          </a:prstGeom>
          <a:solidFill>
            <a:srgbClr val="0B7285">
              <a:alpha val="20000"/>
            </a:srgbClr>
          </a:solidFill>
          <a:ln w="12700">
            <a:solidFill>
              <a:srgbClr val="1A9C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5577840" y="4480560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D8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Supervisor: Dr. Raquib Ahsan, Professor, Dept. of Civil Engineering, BUET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5486400" y="475488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651ABAA-6CC0-FA98-83F8-BCBA46C871E2}"/>
              </a:ext>
            </a:extLst>
          </p:cNvPr>
          <p:cNvSpPr txBox="1"/>
          <p:nvPr/>
        </p:nvSpPr>
        <p:spPr>
          <a:xfrm>
            <a:off x="4441348" y="4844534"/>
            <a:ext cx="26130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5A72"/>
          </a:solidFill>
          <a:ln w="12700">
            <a:solidFill>
              <a:srgbClr val="065A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78638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Portland vs. Composite Cement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76072"/>
            <a:ext cx="7863840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0" y="4915535"/>
            <a:ext cx="17367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4023360" cy="3566160"/>
          </a:xfrm>
          <a:prstGeom prst="rect">
            <a:avLst/>
          </a:prstGeom>
          <a:solidFill>
            <a:srgbClr val="065A72"/>
          </a:solidFill>
          <a:ln w="12700">
            <a:solidFill>
              <a:srgbClr val="065A72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4023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11480" y="1691640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Portland Cement  —  CEM I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02920" y="2121408"/>
            <a:ext cx="3657600" cy="1463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C8EC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 clinker content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C8EC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 early hydration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C8EC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Higher heat release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C8EC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Useful for early strength gain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68680" y="3665220"/>
            <a:ext cx="1280160" cy="502920"/>
          </a:xfrm>
          <a:prstGeom prst="rect">
            <a:avLst/>
          </a:prstGeom>
          <a:solidFill>
            <a:srgbClr val="1A9CB0"/>
          </a:solidFill>
          <a:ln w="12700">
            <a:solidFill>
              <a:srgbClr val="1A9C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68680" y="3665220"/>
            <a:ext cx="12801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Clinker: High</a:t>
            </a:r>
          </a:p>
        </p:txBody>
      </p:sp>
      <p:sp>
        <p:nvSpPr>
          <p:cNvPr id="12" name="Shape 10"/>
          <p:cNvSpPr/>
          <p:nvPr/>
        </p:nvSpPr>
        <p:spPr>
          <a:xfrm>
            <a:off x="2377440" y="3665220"/>
            <a:ext cx="1280160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377440" y="3665220"/>
            <a:ext cx="12801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Heat: High</a:t>
            </a:r>
          </a:p>
        </p:txBody>
      </p:sp>
      <p:sp>
        <p:nvSpPr>
          <p:cNvPr id="14" name="Shape 12"/>
          <p:cNvSpPr/>
          <p:nvPr/>
        </p:nvSpPr>
        <p:spPr>
          <a:xfrm>
            <a:off x="4800600" y="1097280"/>
            <a:ext cx="4023360" cy="356616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00600" y="1097280"/>
            <a:ext cx="4023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892040" y="1691640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Composite Cement  —  CEM II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937760" y="2121408"/>
            <a:ext cx="3657600" cy="1463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C8F0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Clinker partly replaced by SCM/filler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C8F0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Slower heat evolution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C8F0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Lower thermal cracking risk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C8F0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Suitable for large mass pours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20040" y="4572000"/>
            <a:ext cx="8503920" cy="384048"/>
          </a:xfrm>
          <a:prstGeom prst="rect">
            <a:avLst/>
          </a:prstGeom>
          <a:solidFill>
            <a:srgbClr val="E6F7FA"/>
          </a:solidFill>
          <a:ln w="12700">
            <a:solidFill>
              <a:srgbClr val="1A9C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" y="4564380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65A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Replacing clinker generally reduces heat — but rapid-hardening composite cement can still spike early heat through increased fineness.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20040" y="4892040"/>
            <a:ext cx="850392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20040" y="4928870"/>
            <a:ext cx="2056765" cy="2178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27D9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Zisan Zia  •  2004153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577840" y="4928616"/>
            <a:ext cx="32461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27D9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Dept. of Civil Engineering, BUET</a:t>
            </a:r>
            <a:endParaRPr lang="en-US" sz="800" dirty="0"/>
          </a:p>
        </p:txBody>
      </p:sp>
      <p:sp>
        <p:nvSpPr>
          <p:cNvPr id="27" name="Text Box 26"/>
          <p:cNvSpPr txBox="1"/>
          <p:nvPr/>
        </p:nvSpPr>
        <p:spPr>
          <a:xfrm>
            <a:off x="8289925" y="45720"/>
            <a:ext cx="854075" cy="2247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2004153</a:t>
            </a:r>
          </a:p>
        </p:txBody>
      </p:sp>
      <p:sp>
        <p:nvSpPr>
          <p:cNvPr id="28" name="Shape 16"/>
          <p:cNvSpPr/>
          <p:nvPr/>
        </p:nvSpPr>
        <p:spPr>
          <a:xfrm>
            <a:off x="5455285" y="3657600"/>
            <a:ext cx="1280160" cy="502920"/>
          </a:xfrm>
          <a:prstGeom prst="rect">
            <a:avLst/>
          </a:prstGeom>
          <a:solidFill>
            <a:srgbClr val="048A60"/>
          </a:solidFill>
          <a:ln w="12700">
            <a:solidFill>
              <a:srgbClr val="048A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17"/>
          <p:cNvSpPr/>
          <p:nvPr/>
        </p:nvSpPr>
        <p:spPr>
          <a:xfrm>
            <a:off x="5455285" y="3657600"/>
            <a:ext cx="12801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Clinker: Lower</a:t>
            </a:r>
          </a:p>
        </p:txBody>
      </p:sp>
      <p:sp>
        <p:nvSpPr>
          <p:cNvPr id="30" name="Shape 18"/>
          <p:cNvSpPr/>
          <p:nvPr/>
        </p:nvSpPr>
        <p:spPr>
          <a:xfrm>
            <a:off x="7009765" y="3657600"/>
            <a:ext cx="1280160" cy="502920"/>
          </a:xfrm>
          <a:prstGeom prst="rect">
            <a:avLst/>
          </a:prstGeom>
          <a:solidFill>
            <a:srgbClr val="1EB87A"/>
          </a:solidFill>
          <a:ln w="12700">
            <a:solidFill>
              <a:srgbClr val="1EB8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19"/>
          <p:cNvSpPr/>
          <p:nvPr/>
        </p:nvSpPr>
        <p:spPr>
          <a:xfrm>
            <a:off x="7009765" y="3657600"/>
            <a:ext cx="12801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Heat: Lower</a:t>
            </a:r>
          </a:p>
        </p:txBody>
      </p:sp>
      <p:sp>
        <p:nvSpPr>
          <p:cNvPr id="18" name="Text 3"/>
          <p:cNvSpPr/>
          <p:nvPr/>
        </p:nvSpPr>
        <p:spPr>
          <a:xfrm>
            <a:off x="8356600" y="785368"/>
            <a:ext cx="8229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EF9AB47-44A0-847F-4B53-D1F7998B1CCE}"/>
              </a:ext>
            </a:extLst>
          </p:cNvPr>
          <p:cNvSpPr txBox="1"/>
          <p:nvPr/>
        </p:nvSpPr>
        <p:spPr>
          <a:xfrm>
            <a:off x="4441348" y="4904224"/>
            <a:ext cx="26130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-120"/>
              </a:rPr>
              <a:t>2</a:t>
            </a:r>
            <a:endParaRPr lang="en-US" sz="1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5A72"/>
          </a:solidFill>
          <a:ln w="12700">
            <a:solidFill>
              <a:srgbClr val="065A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78638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Reasons Behind Choosing Semi-Adiabatic Calorimetry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76072"/>
            <a:ext cx="7863840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393192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143000"/>
            <a:ext cx="39319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86581"/>
                </a:solidFill>
              </a:rPr>
              <a:t>≈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11480" y="1691640"/>
            <a:ext cx="37490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02A4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Isothermal Calorimetry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02920" y="210312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4865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 = constant (bath)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" y="2450592"/>
            <a:ext cx="3566160" cy="1508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3A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Keeps temperature constant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3A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Very accurate for reaction kinetics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3A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Requires specialized instrument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3A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Small sample — not representative of field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315968" y="2377440"/>
            <a:ext cx="502920" cy="365760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15968" y="2377440"/>
            <a:ext cx="502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vs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892040" y="1143000"/>
            <a:ext cx="3931920" cy="3017520"/>
          </a:xfrm>
          <a:prstGeom prst="rect">
            <a:avLst/>
          </a:prstGeom>
          <a:solidFill>
            <a:srgbClr val="E6F7FA"/>
          </a:solidFill>
          <a:ln w="12700">
            <a:solidFill>
              <a:srgbClr val="0B7285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92040" y="1143000"/>
            <a:ext cx="39319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65A72"/>
                </a:solidFill>
              </a:rPr>
              <a:t>△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983480" y="1691640"/>
            <a:ext cx="37490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65A7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Semi-Adiabatic Calorimetry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074920" y="210312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065A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 rises naturally (insulated vessel)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074920" y="2450592"/>
            <a:ext cx="3566160" cy="1508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3A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Allows limited, controlled heat loss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3A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Temperature rises as in real concrete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3A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Practical, low-cost, reproducible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3A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Closest to field mass concrete behaviour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20040" y="4243070"/>
            <a:ext cx="8503920" cy="487680"/>
          </a:xfrm>
          <a:prstGeom prst="rect">
            <a:avLst/>
          </a:prstGeom>
          <a:solidFill>
            <a:srgbClr val="E6F7FA"/>
          </a:solidFill>
          <a:ln w="12700">
            <a:solidFill>
              <a:srgbClr val="0B72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4243070"/>
            <a:ext cx="8229600" cy="477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065A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 concrete is neither isothermal nor perfectly adiabatic — semi-adiabatic captures the practical heat-retention condition of mass placements.</a:t>
            </a: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320040" y="4892040"/>
            <a:ext cx="850392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20040" y="4928616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27D9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Zisan Zia  •  2004153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577840" y="4928616"/>
            <a:ext cx="32461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27D9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Dept. of Civil Engineering, BUET</a:t>
            </a:r>
            <a:endParaRPr lang="en-US" sz="800" dirty="0"/>
          </a:p>
        </p:txBody>
      </p:sp>
      <p:sp>
        <p:nvSpPr>
          <p:cNvPr id="27" name="Text Box 26"/>
          <p:cNvSpPr txBox="1"/>
          <p:nvPr/>
        </p:nvSpPr>
        <p:spPr>
          <a:xfrm>
            <a:off x="8289925" y="45720"/>
            <a:ext cx="854075" cy="2247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2004153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EFB1C0-AC9A-70DA-D93B-CD0E1F8C48D3}"/>
              </a:ext>
            </a:extLst>
          </p:cNvPr>
          <p:cNvSpPr txBox="1"/>
          <p:nvPr/>
        </p:nvSpPr>
        <p:spPr>
          <a:xfrm>
            <a:off x="4441348" y="4844534"/>
            <a:ext cx="26130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-120"/>
              </a:rPr>
              <a:t>3</a:t>
            </a:r>
            <a:endParaRPr lang="en-US" sz="1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5A72"/>
          </a:solidFill>
          <a:ln w="12700">
            <a:solidFill>
              <a:srgbClr val="065A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78638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Reasons Behind Hydration Heat Calculation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76072"/>
            <a:ext cx="7863840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3931920" cy="1417320"/>
          </a:xfrm>
          <a:prstGeom prst="rect">
            <a:avLst/>
          </a:prstGeom>
          <a:solidFill>
            <a:srgbClr val="065A72"/>
          </a:solidFill>
          <a:ln w="12700">
            <a:solidFill>
              <a:srgbClr val="065A72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640080" cy="1417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033272" y="1207008"/>
            <a:ext cx="30175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Reaction Speed</a:t>
            </a:r>
          </a:p>
        </p:txBody>
      </p:sp>
      <p:sp>
        <p:nvSpPr>
          <p:cNvPr id="9" name="Text 7"/>
          <p:cNvSpPr/>
          <p:nvPr/>
        </p:nvSpPr>
        <p:spPr>
          <a:xfrm>
            <a:off x="1033272" y="1554480"/>
            <a:ext cx="30175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0F0F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q(t) shows how fast the cement reacts at each instant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0" y="1097280"/>
            <a:ext cx="3931920" cy="1417320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0" y="1097280"/>
            <a:ext cx="640080" cy="1417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285232" y="1207008"/>
            <a:ext cx="30175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Total Heat</a:t>
            </a:r>
          </a:p>
        </p:txBody>
      </p:sp>
      <p:sp>
        <p:nvSpPr>
          <p:cNvPr id="13" name="Text 11"/>
          <p:cNvSpPr/>
          <p:nvPr/>
        </p:nvSpPr>
        <p:spPr>
          <a:xfrm>
            <a:off x="5285232" y="1554480"/>
            <a:ext cx="30175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0F0F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Q(t) shows heat stored over time — drives temperature rise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20040" y="2697480"/>
            <a:ext cx="3931920" cy="1417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0040" y="2697480"/>
            <a:ext cx="640080" cy="1417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033272" y="2807208"/>
            <a:ext cx="30175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Cracking Risk</a:t>
            </a:r>
          </a:p>
        </p:txBody>
      </p:sp>
      <p:sp>
        <p:nvSpPr>
          <p:cNvPr id="17" name="Text 15"/>
          <p:cNvSpPr/>
          <p:nvPr/>
        </p:nvSpPr>
        <p:spPr>
          <a:xfrm>
            <a:off x="1033272" y="3154680"/>
            <a:ext cx="30175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0F0F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 heat → high ΔT → thermal stress exceeding tensile strength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72000" y="2697480"/>
            <a:ext cx="3931920" cy="141732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0" y="2697480"/>
            <a:ext cx="640080" cy="1417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5285232" y="2807208"/>
            <a:ext cx="30175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Cement Choice</a:t>
            </a:r>
          </a:p>
        </p:txBody>
      </p:sp>
      <p:sp>
        <p:nvSpPr>
          <p:cNvPr id="21" name="Text 19"/>
          <p:cNvSpPr/>
          <p:nvPr/>
        </p:nvSpPr>
        <p:spPr>
          <a:xfrm>
            <a:off x="5285232" y="3154680"/>
            <a:ext cx="30175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0F0F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Low-heat cement identified as suitable for mass concrete pours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20040" y="4227195"/>
            <a:ext cx="8503920" cy="562610"/>
          </a:xfrm>
          <a:prstGeom prst="rect">
            <a:avLst/>
          </a:prstGeom>
          <a:solidFill>
            <a:srgbClr val="E6F7FA"/>
          </a:solidFill>
          <a:ln w="12700">
            <a:solidFill>
              <a:srgbClr val="1A9C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" y="4315968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065A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Hydration heat parameters feed early-age thermal analysis, temperature-control planning, and cement selection for mass concrete.</a:t>
            </a: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320040" y="4892040"/>
            <a:ext cx="850392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20040" y="4928616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27D9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Zisan Zia  •  2004153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577840" y="4928616"/>
            <a:ext cx="32461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27D9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Dept. of Civil Engineering, BUET</a:t>
            </a:r>
            <a:endParaRPr lang="en-US" sz="800" dirty="0"/>
          </a:p>
        </p:txBody>
      </p:sp>
      <p:sp>
        <p:nvSpPr>
          <p:cNvPr id="27" name="Text Box 26"/>
          <p:cNvSpPr txBox="1"/>
          <p:nvPr/>
        </p:nvSpPr>
        <p:spPr>
          <a:xfrm>
            <a:off x="8289925" y="45720"/>
            <a:ext cx="854075" cy="2247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2004153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6E6555-61BC-C440-7DE5-ED60D6AF036C}"/>
              </a:ext>
            </a:extLst>
          </p:cNvPr>
          <p:cNvSpPr txBox="1"/>
          <p:nvPr/>
        </p:nvSpPr>
        <p:spPr>
          <a:xfrm>
            <a:off x="4441348" y="4844534"/>
            <a:ext cx="26130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-120"/>
              </a:rPr>
              <a:t>4</a:t>
            </a:r>
            <a:endParaRPr lang="en-US" sz="1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5A72"/>
          </a:solidFill>
          <a:ln w="12700">
            <a:solidFill>
              <a:srgbClr val="065A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78638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Research Gaps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76072"/>
            <a:ext cx="7863840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85039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115568"/>
            <a:ext cx="777240" cy="960120"/>
          </a:xfrm>
          <a:prstGeom prst="rect">
            <a:avLst/>
          </a:prstGeom>
          <a:solidFill>
            <a:srgbClr val="065A72"/>
          </a:solidFill>
          <a:ln w="12700">
            <a:solidFill>
              <a:srgbClr val="065A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1115568"/>
            <a:ext cx="77724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BD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188720" y="1207008"/>
            <a:ext cx="7452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02A4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Bangladesh Cement Data Gap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188720" y="1527048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3A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Limited semi-adiabatic hydration heat data for BDS EN 197-1 cement types commonly used in Bangladeshi construction.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20040" y="2212848"/>
            <a:ext cx="85039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0040" y="2212848"/>
            <a:ext cx="777240" cy="9601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0040" y="2212848"/>
            <a:ext cx="77724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⚡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88720" y="2304288"/>
            <a:ext cx="7452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02A4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Early Heat Risk Gap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188720" y="2624328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3A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Rapid-hardening composite cement (CEM II A-M 42.5 R) produces faster early heat — this behaviour is rarely isolated from normal composite cement.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20040" y="3310128"/>
            <a:ext cx="85039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20040" y="3310128"/>
            <a:ext cx="777240" cy="960120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0040" y="3310128"/>
            <a:ext cx="77724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✓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188720" y="3401568"/>
            <a:ext cx="7452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02A4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Composite Cement Validation Gap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188720" y="3721608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3A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CEM II A-M and B-M with mixed secondary constituents lack systematic heat-evolution validation under semi-adiabatic conditions.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6355" y="4407535"/>
            <a:ext cx="9006205" cy="384175"/>
          </a:xfrm>
          <a:prstGeom prst="rect">
            <a:avLst/>
          </a:prstGeom>
          <a:solidFill>
            <a:srgbClr val="065A72"/>
          </a:solidFill>
          <a:ln w="12700">
            <a:solidFill>
              <a:srgbClr val="065A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3020" y="4407535"/>
            <a:ext cx="9020810" cy="384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study fills all three gaps: XRD + semi-adiabatic calorimetry + MATLAB modelling + VCCTL simulation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20040" y="4892040"/>
            <a:ext cx="850392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20040" y="4928616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27D9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Zisan Zia  •  2004153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577840" y="4928616"/>
            <a:ext cx="32461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27D9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Dept. of Civil Engineering, BUET</a:t>
            </a:r>
            <a:endParaRPr lang="en-US" sz="800" dirty="0"/>
          </a:p>
        </p:txBody>
      </p:sp>
      <p:sp>
        <p:nvSpPr>
          <p:cNvPr id="27" name="Text Box 26"/>
          <p:cNvSpPr txBox="1"/>
          <p:nvPr/>
        </p:nvSpPr>
        <p:spPr>
          <a:xfrm>
            <a:off x="8289925" y="45720"/>
            <a:ext cx="854075" cy="2247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2004153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F7758E-8DB8-BEA2-BA40-4A472B70FCB4}"/>
              </a:ext>
            </a:extLst>
          </p:cNvPr>
          <p:cNvSpPr txBox="1"/>
          <p:nvPr/>
        </p:nvSpPr>
        <p:spPr>
          <a:xfrm>
            <a:off x="4441348" y="4844534"/>
            <a:ext cx="26130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-120"/>
              </a:rPr>
              <a:t>5</a:t>
            </a:r>
            <a:endParaRPr lang="en-US" sz="1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5A72"/>
          </a:solidFill>
          <a:ln w="12700">
            <a:solidFill>
              <a:srgbClr val="065A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78638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Objectives and Scope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76072"/>
            <a:ext cx="7863840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4114800" cy="2506980"/>
          </a:xfrm>
          <a:prstGeom prst="rect">
            <a:avLst/>
          </a:prstGeom>
          <a:solidFill>
            <a:srgbClr val="E6F7FA"/>
          </a:solidFill>
          <a:ln w="12700">
            <a:solidFill>
              <a:srgbClr val="0B7285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143000"/>
            <a:ext cx="41148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65A7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Objective 1 — Characterise &amp; Measure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02920" y="1581912"/>
            <a:ext cx="3794760" cy="1691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3A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XRD phase identification (C₃S, C₂S, C₃A, CaCO₃, SCM)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3A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Temperature development under sealed conditions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3A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Heat generation rate q(t) and cumulative heat Q(t)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709160" y="1097280"/>
            <a:ext cx="4114800" cy="2468880"/>
          </a:xfrm>
          <a:prstGeom prst="rect">
            <a:avLst/>
          </a:prstGeom>
          <a:solidFill>
            <a:srgbClr val="E6F7FA"/>
          </a:solidFill>
          <a:ln w="12700">
            <a:solidFill>
              <a:srgbClr val="0B7285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46320" y="1143000"/>
            <a:ext cx="41579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chemeClr val="tx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0"/>
              </a:rPr>
              <a:t>Objective 2 — </a:t>
            </a:r>
            <a:r>
              <a:rPr lang="en-US" altLang="en-US" b="1" dirty="0">
                <a:solidFill>
                  <a:schemeClr val="tx2"/>
                </a:solidFill>
                <a:latin typeface="Cambria" panose="02040503050406030204" pitchFamily="34" charset="0"/>
                <a:cs typeface="Cambria" panose="02040503050406030204" pitchFamily="34" charset="0"/>
              </a:rPr>
              <a:t>Heat Modeling &amp; Validation</a:t>
            </a:r>
          </a:p>
        </p:txBody>
      </p:sp>
      <p:sp>
        <p:nvSpPr>
          <p:cNvPr id="11" name="Text 9"/>
          <p:cNvSpPr/>
          <p:nvPr/>
        </p:nvSpPr>
        <p:spPr>
          <a:xfrm>
            <a:off x="4892040" y="1419860"/>
            <a:ext cx="3794760" cy="233870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altLang="en-US" sz="1600" dirty="0"/>
              <a:t>Convert temperature rise into hydration heat release</a:t>
            </a:r>
          </a:p>
          <a:p>
            <a:pPr marL="342900" indent="-342900">
              <a:buSzPct val="100000"/>
              <a:buChar char="•"/>
            </a:pPr>
            <a:r>
              <a:rPr lang="en-US" altLang="en-US" sz="1600" dirty="0"/>
              <a:t>Analyze heat emission rate and cumulative heat evolution</a:t>
            </a:r>
          </a:p>
          <a:p>
            <a:pPr marL="342900" indent="-342900">
              <a:buSzPct val="100000"/>
              <a:buChar char="•"/>
            </a:pPr>
            <a:r>
              <a:rPr lang="en-US" altLang="en-US" sz="1600" dirty="0"/>
              <a:t>Model hydration peaks using MATLAB Gaussian fitting</a:t>
            </a:r>
          </a:p>
          <a:p>
            <a:pPr marL="342900" indent="-342900">
              <a:buSzPct val="100000"/>
              <a:buChar char="•"/>
            </a:pPr>
            <a:r>
              <a:rPr lang="en-US" altLang="en-US" sz="1600" dirty="0"/>
              <a:t>Generate smooth polynomial heat functions for thermal simulation</a:t>
            </a:r>
          </a:p>
        </p:txBody>
      </p:sp>
      <p:sp>
        <p:nvSpPr>
          <p:cNvPr id="12" name="Text 10"/>
          <p:cNvSpPr/>
          <p:nvPr/>
        </p:nvSpPr>
        <p:spPr>
          <a:xfrm>
            <a:off x="320040" y="3751072"/>
            <a:ext cx="8503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2A4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Key Output Parameters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4043680"/>
            <a:ext cx="1627632" cy="777240"/>
          </a:xfrm>
          <a:prstGeom prst="rect">
            <a:avLst/>
          </a:prstGeom>
          <a:solidFill>
            <a:srgbClr val="065A72"/>
          </a:solidFill>
          <a:ln w="12700">
            <a:solidFill>
              <a:srgbClr val="065A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0040" y="4043680"/>
            <a:ext cx="1627632" cy="36576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q(t)</a:t>
            </a:r>
          </a:p>
        </p:txBody>
      </p:sp>
      <p:sp>
        <p:nvSpPr>
          <p:cNvPr id="15" name="Text 13"/>
          <p:cNvSpPr/>
          <p:nvPr/>
        </p:nvSpPr>
        <p:spPr>
          <a:xfrm>
            <a:off x="320040" y="4409440"/>
            <a:ext cx="162763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0D8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Heat generation rate</a:t>
            </a:r>
          </a:p>
        </p:txBody>
      </p:sp>
      <p:sp>
        <p:nvSpPr>
          <p:cNvPr id="16" name="Shape 14"/>
          <p:cNvSpPr/>
          <p:nvPr/>
        </p:nvSpPr>
        <p:spPr>
          <a:xfrm>
            <a:off x="2039112" y="4043680"/>
            <a:ext cx="1627632" cy="777240"/>
          </a:xfrm>
          <a:prstGeom prst="rect">
            <a:avLst/>
          </a:prstGeom>
          <a:solidFill>
            <a:srgbClr val="065A72"/>
          </a:solidFill>
          <a:ln w="12700">
            <a:solidFill>
              <a:srgbClr val="065A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039112" y="4043680"/>
            <a:ext cx="1627632" cy="36576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Q(t)</a:t>
            </a:r>
          </a:p>
        </p:txBody>
      </p:sp>
      <p:sp>
        <p:nvSpPr>
          <p:cNvPr id="18" name="Text 16"/>
          <p:cNvSpPr/>
          <p:nvPr/>
        </p:nvSpPr>
        <p:spPr>
          <a:xfrm>
            <a:off x="2039112" y="4482465"/>
            <a:ext cx="162763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0D8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Cumulative heat release</a:t>
            </a:r>
          </a:p>
        </p:txBody>
      </p:sp>
      <p:sp>
        <p:nvSpPr>
          <p:cNvPr id="19" name="Shape 17"/>
          <p:cNvSpPr/>
          <p:nvPr/>
        </p:nvSpPr>
        <p:spPr>
          <a:xfrm>
            <a:off x="3758184" y="4043680"/>
            <a:ext cx="1627632" cy="777240"/>
          </a:xfrm>
          <a:prstGeom prst="rect">
            <a:avLst/>
          </a:prstGeom>
          <a:solidFill>
            <a:srgbClr val="065A72"/>
          </a:solidFill>
          <a:ln w="12700">
            <a:solidFill>
              <a:srgbClr val="065A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758184" y="4043680"/>
            <a:ext cx="1627632" cy="36576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Peak time</a:t>
            </a:r>
          </a:p>
        </p:txBody>
      </p:sp>
      <p:sp>
        <p:nvSpPr>
          <p:cNvPr id="21" name="Text 19"/>
          <p:cNvSpPr/>
          <p:nvPr/>
        </p:nvSpPr>
        <p:spPr>
          <a:xfrm>
            <a:off x="3758184" y="4409440"/>
            <a:ext cx="162763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0D8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Time to max heat rate</a:t>
            </a:r>
          </a:p>
        </p:txBody>
      </p:sp>
      <p:sp>
        <p:nvSpPr>
          <p:cNvPr id="22" name="Shape 20"/>
          <p:cNvSpPr/>
          <p:nvPr/>
        </p:nvSpPr>
        <p:spPr>
          <a:xfrm>
            <a:off x="5477256" y="4043680"/>
            <a:ext cx="1627632" cy="777240"/>
          </a:xfrm>
          <a:prstGeom prst="rect">
            <a:avLst/>
          </a:prstGeom>
          <a:solidFill>
            <a:srgbClr val="065A72"/>
          </a:solidFill>
          <a:ln w="12700">
            <a:solidFill>
              <a:srgbClr val="065A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477256" y="4043680"/>
            <a:ext cx="1627632" cy="36576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α(t)</a:t>
            </a:r>
          </a:p>
        </p:txBody>
      </p:sp>
      <p:sp>
        <p:nvSpPr>
          <p:cNvPr id="24" name="Text 22"/>
          <p:cNvSpPr/>
          <p:nvPr/>
        </p:nvSpPr>
        <p:spPr>
          <a:xfrm>
            <a:off x="5477256" y="4409440"/>
            <a:ext cx="162763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0D8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Degree of hydration</a:t>
            </a:r>
          </a:p>
        </p:txBody>
      </p:sp>
      <p:sp>
        <p:nvSpPr>
          <p:cNvPr id="25" name="Shape 23"/>
          <p:cNvSpPr/>
          <p:nvPr/>
        </p:nvSpPr>
        <p:spPr>
          <a:xfrm>
            <a:off x="7196328" y="4043680"/>
            <a:ext cx="1627632" cy="777240"/>
          </a:xfrm>
          <a:prstGeom prst="rect">
            <a:avLst/>
          </a:prstGeom>
          <a:solidFill>
            <a:srgbClr val="065A72"/>
          </a:solidFill>
          <a:ln w="12700">
            <a:solidFill>
              <a:srgbClr val="065A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196328" y="4043680"/>
            <a:ext cx="1627632" cy="36576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Risk rank</a:t>
            </a:r>
          </a:p>
        </p:txBody>
      </p:sp>
      <p:sp>
        <p:nvSpPr>
          <p:cNvPr id="27" name="Text 25"/>
          <p:cNvSpPr/>
          <p:nvPr/>
        </p:nvSpPr>
        <p:spPr>
          <a:xfrm>
            <a:off x="7196328" y="4409440"/>
            <a:ext cx="162763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0D8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Cement suitability</a:t>
            </a:r>
          </a:p>
        </p:txBody>
      </p:sp>
      <p:sp>
        <p:nvSpPr>
          <p:cNvPr id="28" name="Text 26"/>
          <p:cNvSpPr/>
          <p:nvPr/>
        </p:nvSpPr>
        <p:spPr>
          <a:xfrm>
            <a:off x="320040" y="4709160"/>
            <a:ext cx="8503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0040" y="4892040"/>
            <a:ext cx="850392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20040" y="4928616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27D9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Zisan Zia  •  2004153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577840" y="4928616"/>
            <a:ext cx="32461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27D9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Dept. of Civil Engineering, BUET</a:t>
            </a:r>
            <a:endParaRPr lang="en-US" sz="800" dirty="0"/>
          </a:p>
        </p:txBody>
      </p:sp>
      <p:sp>
        <p:nvSpPr>
          <p:cNvPr id="32" name="Text Box 31"/>
          <p:cNvSpPr txBox="1"/>
          <p:nvPr/>
        </p:nvSpPr>
        <p:spPr>
          <a:xfrm>
            <a:off x="8289925" y="45720"/>
            <a:ext cx="854075" cy="2247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2004153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808C7C-90B5-F89A-2798-E234B11D777B}"/>
              </a:ext>
            </a:extLst>
          </p:cNvPr>
          <p:cNvSpPr txBox="1"/>
          <p:nvPr/>
        </p:nvSpPr>
        <p:spPr>
          <a:xfrm>
            <a:off x="4441348" y="4844534"/>
            <a:ext cx="26130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-120"/>
              </a:rPr>
              <a:t>6</a:t>
            </a:r>
            <a:endParaRPr lang="en-US" sz="1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5A72"/>
          </a:solidFill>
          <a:ln w="12700">
            <a:solidFill>
              <a:srgbClr val="065A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78638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Four Cement Samples Compared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76072"/>
            <a:ext cx="7863840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2057400" cy="3545205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051560"/>
            <a:ext cx="2057400" cy="8985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CEM I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52.5 N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1777365" cy="635"/>
          </a:xfrm>
          <a:prstGeom prst="line">
            <a:avLst/>
          </a:prstGeom>
          <a:noFill/>
          <a:ln w="9525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" y="1965960"/>
            <a:ext cx="2057400" cy="349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E8F0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Portland</a:t>
            </a:r>
          </a:p>
        </p:txBody>
      </p:sp>
      <p:sp>
        <p:nvSpPr>
          <p:cNvPr id="10" name="Text 8"/>
          <p:cNvSpPr/>
          <p:nvPr/>
        </p:nvSpPr>
        <p:spPr>
          <a:xfrm>
            <a:off x="457200" y="2331720"/>
            <a:ext cx="1777365" cy="11982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4EC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 clinker / high-heat reference</a:t>
            </a:r>
          </a:p>
        </p:txBody>
      </p:sp>
      <p:sp>
        <p:nvSpPr>
          <p:cNvPr id="11" name="Shape 9"/>
          <p:cNvSpPr/>
          <p:nvPr/>
        </p:nvSpPr>
        <p:spPr>
          <a:xfrm>
            <a:off x="457200" y="3520440"/>
            <a:ext cx="1777365" cy="549275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3520440"/>
            <a:ext cx="1777365" cy="5492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Heat Baseline</a:t>
            </a:r>
          </a:p>
        </p:txBody>
      </p:sp>
      <p:sp>
        <p:nvSpPr>
          <p:cNvPr id="13" name="Shape 11"/>
          <p:cNvSpPr/>
          <p:nvPr/>
        </p:nvSpPr>
        <p:spPr>
          <a:xfrm>
            <a:off x="2468880" y="1051560"/>
            <a:ext cx="2057400" cy="3545205"/>
          </a:xfrm>
          <a:prstGeom prst="rect">
            <a:avLst/>
          </a:prstGeom>
          <a:solidFill>
            <a:srgbClr val="B94B00"/>
          </a:solidFill>
          <a:ln w="12700">
            <a:solidFill>
              <a:srgbClr val="B94B00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468880" y="1051560"/>
            <a:ext cx="2057400" cy="8985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CEM II A-M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42.5 R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2606040" y="1920240"/>
            <a:ext cx="1777365" cy="635"/>
          </a:xfrm>
          <a:prstGeom prst="line">
            <a:avLst/>
          </a:prstGeom>
          <a:noFill/>
          <a:ln w="9525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468880" y="1965960"/>
            <a:ext cx="2057400" cy="349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E8F0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Composite, rapid</a:t>
            </a:r>
          </a:p>
        </p:txBody>
      </p:sp>
      <p:sp>
        <p:nvSpPr>
          <p:cNvPr id="17" name="Text 15"/>
          <p:cNvSpPr/>
          <p:nvPr/>
        </p:nvSpPr>
        <p:spPr>
          <a:xfrm>
            <a:off x="2606040" y="2331720"/>
            <a:ext cx="1777365" cy="11982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4EC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rapid-hardening spike early heat</a:t>
            </a:r>
          </a:p>
        </p:txBody>
      </p:sp>
      <p:sp>
        <p:nvSpPr>
          <p:cNvPr id="18" name="Shape 16"/>
          <p:cNvSpPr/>
          <p:nvPr/>
        </p:nvSpPr>
        <p:spPr>
          <a:xfrm>
            <a:off x="2606040" y="3520440"/>
            <a:ext cx="1777365" cy="549275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606040" y="3520440"/>
            <a:ext cx="1777365" cy="5492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Early-Heat Challenge</a:t>
            </a:r>
          </a:p>
        </p:txBody>
      </p:sp>
      <p:sp>
        <p:nvSpPr>
          <p:cNvPr id="20" name="Shape 18"/>
          <p:cNvSpPr/>
          <p:nvPr/>
        </p:nvSpPr>
        <p:spPr>
          <a:xfrm>
            <a:off x="4617720" y="1051560"/>
            <a:ext cx="2057400" cy="3545205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617720" y="1051560"/>
            <a:ext cx="2057400" cy="8985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CEM II A-M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42.5 N</a:t>
            </a: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4754880" y="1920240"/>
            <a:ext cx="1777365" cy="635"/>
          </a:xfrm>
          <a:prstGeom prst="line">
            <a:avLst/>
          </a:prstGeom>
          <a:noFill/>
          <a:ln w="9525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617720" y="1965960"/>
            <a:ext cx="2057400" cy="349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E8F0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Composite, normal</a:t>
            </a:r>
          </a:p>
        </p:txBody>
      </p:sp>
      <p:sp>
        <p:nvSpPr>
          <p:cNvPr id="24" name="Text 22"/>
          <p:cNvSpPr/>
          <p:nvPr/>
        </p:nvSpPr>
        <p:spPr>
          <a:xfrm>
            <a:off x="4754880" y="2331720"/>
            <a:ext cx="1777365" cy="11982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4EC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intermediate heat control</a:t>
            </a:r>
          </a:p>
        </p:txBody>
      </p:sp>
      <p:sp>
        <p:nvSpPr>
          <p:cNvPr id="25" name="Shape 23"/>
          <p:cNvSpPr/>
          <p:nvPr/>
        </p:nvSpPr>
        <p:spPr>
          <a:xfrm>
            <a:off x="4754880" y="3520440"/>
            <a:ext cx="1777365" cy="549275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754880" y="3520440"/>
            <a:ext cx="1777365" cy="5492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Comparison Point</a:t>
            </a:r>
          </a:p>
        </p:txBody>
      </p:sp>
      <p:sp>
        <p:nvSpPr>
          <p:cNvPr id="27" name="Shape 25"/>
          <p:cNvSpPr/>
          <p:nvPr/>
        </p:nvSpPr>
        <p:spPr>
          <a:xfrm>
            <a:off x="6766560" y="1051560"/>
            <a:ext cx="2057400" cy="3545205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766560" y="1051560"/>
            <a:ext cx="2057400" cy="8985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CEM II B-M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42.5 N</a:t>
            </a: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6903720" y="1920240"/>
            <a:ext cx="1777365" cy="635"/>
          </a:xfrm>
          <a:prstGeom prst="line">
            <a:avLst/>
          </a:prstGeom>
          <a:noFill/>
          <a:ln w="9525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766560" y="1965960"/>
            <a:ext cx="2057400" cy="349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E8F0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Higher composite</a:t>
            </a:r>
          </a:p>
        </p:txBody>
      </p:sp>
      <p:sp>
        <p:nvSpPr>
          <p:cNvPr id="31" name="Text 29"/>
          <p:cNvSpPr/>
          <p:nvPr/>
        </p:nvSpPr>
        <p:spPr>
          <a:xfrm>
            <a:off x="6903720" y="2331720"/>
            <a:ext cx="1777365" cy="11982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4EC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low-heat candidate for mass concrete</a:t>
            </a:r>
          </a:p>
        </p:txBody>
      </p:sp>
      <p:sp>
        <p:nvSpPr>
          <p:cNvPr id="32" name="Shape 30"/>
          <p:cNvSpPr/>
          <p:nvPr/>
        </p:nvSpPr>
        <p:spPr>
          <a:xfrm>
            <a:off x="6903720" y="3520440"/>
            <a:ext cx="1777365" cy="549275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903720" y="3520440"/>
            <a:ext cx="1777365" cy="5492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Low-Heat Target</a:t>
            </a:r>
          </a:p>
        </p:txBody>
      </p:sp>
      <p:sp>
        <p:nvSpPr>
          <p:cNvPr id="36" name="Shape 34"/>
          <p:cNvSpPr/>
          <p:nvPr/>
        </p:nvSpPr>
        <p:spPr>
          <a:xfrm>
            <a:off x="320040" y="4892040"/>
            <a:ext cx="850392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20040" y="4928616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27D9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Zisan Zia  •  2004153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577840" y="4928616"/>
            <a:ext cx="32461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27D9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Dept. of Civil Engineering, BUET</a:t>
            </a:r>
            <a:endParaRPr lang="en-US" sz="800" dirty="0"/>
          </a:p>
        </p:txBody>
      </p:sp>
      <p:sp>
        <p:nvSpPr>
          <p:cNvPr id="39" name="Text Box 38"/>
          <p:cNvSpPr txBox="1"/>
          <p:nvPr/>
        </p:nvSpPr>
        <p:spPr>
          <a:xfrm>
            <a:off x="8289925" y="45720"/>
            <a:ext cx="854075" cy="2247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2004153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E435D2-24B7-E305-1B2C-FAF4C918A4E8}"/>
              </a:ext>
            </a:extLst>
          </p:cNvPr>
          <p:cNvSpPr txBox="1"/>
          <p:nvPr/>
        </p:nvSpPr>
        <p:spPr>
          <a:xfrm>
            <a:off x="4441348" y="4844534"/>
            <a:ext cx="26130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-120"/>
              </a:rPr>
              <a:t>7</a:t>
            </a:r>
            <a:endParaRPr lang="en-US" sz="1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5A72"/>
          </a:solidFill>
          <a:ln w="12700">
            <a:solidFill>
              <a:srgbClr val="065A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78638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Research Workflow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76072"/>
            <a:ext cx="7863840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2651760" cy="1554480"/>
          </a:xfrm>
          <a:prstGeom prst="rect">
            <a:avLst/>
          </a:prstGeom>
          <a:solidFill>
            <a:srgbClr val="065A72"/>
          </a:solidFill>
          <a:ln w="12700">
            <a:solidFill>
              <a:srgbClr val="065A72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097280"/>
            <a:ext cx="457200" cy="155448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1097280"/>
            <a:ext cx="45720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50392" y="1280160"/>
            <a:ext cx="2011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Cement Selection</a:t>
            </a:r>
          </a:p>
        </p:txBody>
      </p:sp>
      <p:sp>
        <p:nvSpPr>
          <p:cNvPr id="10" name="Text 8"/>
          <p:cNvSpPr/>
          <p:nvPr/>
        </p:nvSpPr>
        <p:spPr>
          <a:xfrm>
            <a:off x="850265" y="2076450"/>
            <a:ext cx="2011680" cy="7759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  <a:sym typeface="+mn-ea"/>
              </a:rPr>
              <a:t>CEM I 52.5 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  <a:sym typeface="+mn-ea"/>
              </a:rPr>
              <a:t>CEM II A-M 42.5 R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  <a:sym typeface="+mn-ea"/>
              </a:rPr>
              <a:t>CEM II A-M 42.5 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  <a:sym typeface="+mn-ea"/>
              </a:rPr>
              <a:t>CEM II B-M 42.5 N</a:t>
            </a:r>
            <a:endParaRPr lang="en-US" sz="1600" dirty="0">
              <a:solidFill>
                <a:schemeClr val="accent2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accent2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  <a:sym typeface="+mn-ea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accent2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accent2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3200400" y="1097280"/>
            <a:ext cx="2651760" cy="1554480"/>
          </a:xfrm>
          <a:prstGeom prst="rect">
            <a:avLst/>
          </a:prstGeom>
          <a:solidFill>
            <a:srgbClr val="065A72"/>
          </a:solidFill>
          <a:ln w="12700">
            <a:solidFill>
              <a:srgbClr val="065A72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00400" y="1097280"/>
            <a:ext cx="457200" cy="155448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00400" y="1097280"/>
            <a:ext cx="45720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730752" y="1280160"/>
            <a:ext cx="2011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Sample Prep</a:t>
            </a:r>
          </a:p>
        </p:txBody>
      </p:sp>
      <p:sp>
        <p:nvSpPr>
          <p:cNvPr id="15" name="Text 13"/>
          <p:cNvSpPr/>
          <p:nvPr/>
        </p:nvSpPr>
        <p:spPr>
          <a:xfrm>
            <a:off x="3730752" y="1627632"/>
            <a:ext cx="201168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Sealed paste</a:t>
            </a:r>
            <a:endParaRPr lang="en-US" sz="1600" dirty="0">
              <a:solidFill>
                <a:schemeClr val="accent2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w/c ≈ 0.40</a:t>
            </a:r>
          </a:p>
        </p:txBody>
      </p:sp>
      <p:sp>
        <p:nvSpPr>
          <p:cNvPr id="16" name="Shape 14"/>
          <p:cNvSpPr/>
          <p:nvPr/>
        </p:nvSpPr>
        <p:spPr>
          <a:xfrm>
            <a:off x="6080760" y="1097280"/>
            <a:ext cx="2651760" cy="1554480"/>
          </a:xfrm>
          <a:prstGeom prst="rect">
            <a:avLst/>
          </a:prstGeom>
          <a:solidFill>
            <a:srgbClr val="065A72"/>
          </a:solidFill>
          <a:ln w="12700">
            <a:solidFill>
              <a:srgbClr val="065A72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080760" y="1097280"/>
            <a:ext cx="457200" cy="155448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080760" y="1097280"/>
            <a:ext cx="45720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611112" y="1280160"/>
            <a:ext cx="2011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XRD Testing</a:t>
            </a:r>
          </a:p>
        </p:txBody>
      </p:sp>
      <p:sp>
        <p:nvSpPr>
          <p:cNvPr id="20" name="Text 18"/>
          <p:cNvSpPr/>
          <p:nvPr/>
        </p:nvSpPr>
        <p:spPr>
          <a:xfrm>
            <a:off x="6611112" y="1627632"/>
            <a:ext cx="201168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Identify C₃S, C₂S,</a:t>
            </a:r>
            <a:endParaRPr lang="en-US" sz="1600" dirty="0">
              <a:solidFill>
                <a:schemeClr val="accent2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C₃A, CaCO₃, SCM</a:t>
            </a:r>
          </a:p>
        </p:txBody>
      </p:sp>
      <p:sp>
        <p:nvSpPr>
          <p:cNvPr id="21" name="Shape 19"/>
          <p:cNvSpPr/>
          <p:nvPr/>
        </p:nvSpPr>
        <p:spPr>
          <a:xfrm>
            <a:off x="320040" y="2926080"/>
            <a:ext cx="2651760" cy="1554480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20040" y="2926080"/>
            <a:ext cx="457200" cy="155448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20040" y="2926080"/>
            <a:ext cx="45720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50392" y="3108960"/>
            <a:ext cx="2011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Calorimetry</a:t>
            </a:r>
          </a:p>
        </p:txBody>
      </p:sp>
      <p:sp>
        <p:nvSpPr>
          <p:cNvPr id="25" name="Text 23"/>
          <p:cNvSpPr/>
          <p:nvPr/>
        </p:nvSpPr>
        <p:spPr>
          <a:xfrm>
            <a:off x="850392" y="3456432"/>
            <a:ext cx="201168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Record Tₛ(t)</a:t>
            </a:r>
            <a:endParaRPr lang="en-US" sz="1600" dirty="0">
              <a:solidFill>
                <a:schemeClr val="accent2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and Tₐₘᵦ(t)</a:t>
            </a:r>
          </a:p>
        </p:txBody>
      </p:sp>
      <p:sp>
        <p:nvSpPr>
          <p:cNvPr id="26" name="Shape 24"/>
          <p:cNvSpPr/>
          <p:nvPr/>
        </p:nvSpPr>
        <p:spPr>
          <a:xfrm>
            <a:off x="3200400" y="2926080"/>
            <a:ext cx="2651760" cy="1554480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200400" y="2926080"/>
            <a:ext cx="457200" cy="155448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200400" y="2926080"/>
            <a:ext cx="45720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3730752" y="3108960"/>
            <a:ext cx="2011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Heat Calculation</a:t>
            </a:r>
          </a:p>
        </p:txBody>
      </p:sp>
      <p:sp>
        <p:nvSpPr>
          <p:cNvPr id="30" name="Text 28"/>
          <p:cNvSpPr/>
          <p:nvPr/>
        </p:nvSpPr>
        <p:spPr>
          <a:xfrm>
            <a:off x="3730752" y="3456432"/>
            <a:ext cx="201168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q(t), Q(t)</a:t>
            </a:r>
            <a:endParaRPr lang="en-US" sz="1600" dirty="0">
              <a:solidFill>
                <a:schemeClr val="accent2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and peak time</a:t>
            </a:r>
          </a:p>
        </p:txBody>
      </p:sp>
      <p:sp>
        <p:nvSpPr>
          <p:cNvPr id="31" name="Shape 29"/>
          <p:cNvSpPr/>
          <p:nvPr/>
        </p:nvSpPr>
        <p:spPr>
          <a:xfrm>
            <a:off x="6080760" y="2926080"/>
            <a:ext cx="2651760" cy="1554480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080760" y="2926080"/>
            <a:ext cx="457200" cy="155448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080760" y="2926080"/>
            <a:ext cx="45720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611112" y="3108960"/>
            <a:ext cx="2011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Model &amp; Validate</a:t>
            </a:r>
          </a:p>
        </p:txBody>
      </p:sp>
      <p:sp>
        <p:nvSpPr>
          <p:cNvPr id="35" name="Text 33"/>
          <p:cNvSpPr/>
          <p:nvPr/>
        </p:nvSpPr>
        <p:spPr>
          <a:xfrm>
            <a:off x="6610985" y="3547745"/>
            <a:ext cx="2112645" cy="878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Gaussian, polynomial,</a:t>
            </a:r>
            <a:endParaRPr lang="en-US" sz="1600" dirty="0">
              <a:solidFill>
                <a:schemeClr val="accent2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VCCTL(</a:t>
            </a:r>
            <a:r>
              <a:rPr lang="en-US" altLang="en-US" sz="1600" dirty="0">
                <a:solidFill>
                  <a:schemeClr val="accent2"/>
                </a:solidFill>
              </a:rPr>
              <a:t> Virtual Cement and Concrete Testing Laboratory)</a:t>
            </a:r>
          </a:p>
        </p:txBody>
      </p:sp>
      <p:sp>
        <p:nvSpPr>
          <p:cNvPr id="37" name="Text 35"/>
          <p:cNvSpPr/>
          <p:nvPr/>
        </p:nvSpPr>
        <p:spPr>
          <a:xfrm>
            <a:off x="457200" y="468172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20040" y="4928616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27D9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Zisan Zia  •  2004153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577840" y="4928616"/>
            <a:ext cx="32461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27D9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Dept. of Civil Engineering, BUET</a:t>
            </a:r>
            <a:endParaRPr lang="en-US" sz="800" dirty="0"/>
          </a:p>
        </p:txBody>
      </p:sp>
      <p:sp>
        <p:nvSpPr>
          <p:cNvPr id="41" name="Text Box 40"/>
          <p:cNvSpPr txBox="1"/>
          <p:nvPr/>
        </p:nvSpPr>
        <p:spPr>
          <a:xfrm>
            <a:off x="8289925" y="45720"/>
            <a:ext cx="854075" cy="2247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2004153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F6BB81-45F8-D18D-7A16-E967E70C1EBF}"/>
              </a:ext>
            </a:extLst>
          </p:cNvPr>
          <p:cNvSpPr txBox="1"/>
          <p:nvPr/>
        </p:nvSpPr>
        <p:spPr>
          <a:xfrm>
            <a:off x="4441348" y="4844534"/>
            <a:ext cx="26130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-120"/>
              </a:rPr>
              <a:t>8</a:t>
            </a:r>
            <a:endParaRPr lang="en-US" sz="1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5A72"/>
          </a:solidFill>
          <a:ln w="12700">
            <a:solidFill>
              <a:srgbClr val="065A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78638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Sample Preparation and XRD Testing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76072"/>
            <a:ext cx="7863840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20040" y="1078992"/>
            <a:ext cx="502920" cy="530352"/>
          </a:xfrm>
          <a:prstGeom prst="rect">
            <a:avLst/>
          </a:prstGeom>
          <a:solidFill>
            <a:srgbClr val="065A72"/>
          </a:solidFill>
          <a:ln w="12700">
            <a:solidFill>
              <a:srgbClr val="065A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320040" y="1078992"/>
            <a:ext cx="50292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932688" y="1097280"/>
            <a:ext cx="4389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02A4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Oven Dry</a:t>
            </a:r>
          </a:p>
        </p:txBody>
      </p:sp>
      <p:sp>
        <p:nvSpPr>
          <p:cNvPr id="10" name="Text 7"/>
          <p:cNvSpPr/>
          <p:nvPr/>
        </p:nvSpPr>
        <p:spPr>
          <a:xfrm>
            <a:off x="932688" y="1353312"/>
            <a:ext cx="4389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3A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Remove moisture before XRD to avoid peak distortion</a:t>
            </a:r>
          </a:p>
        </p:txBody>
      </p:sp>
      <p:sp>
        <p:nvSpPr>
          <p:cNvPr id="11" name="Shape 8"/>
          <p:cNvSpPr/>
          <p:nvPr/>
        </p:nvSpPr>
        <p:spPr>
          <a:xfrm>
            <a:off x="320040" y="1746504"/>
            <a:ext cx="502920" cy="530352"/>
          </a:xfrm>
          <a:prstGeom prst="rect">
            <a:avLst/>
          </a:prstGeom>
          <a:solidFill>
            <a:srgbClr val="065A72"/>
          </a:solidFill>
          <a:ln w="12700">
            <a:solidFill>
              <a:srgbClr val="065A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20040" y="1746504"/>
            <a:ext cx="50292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932688" y="1764792"/>
            <a:ext cx="4389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02A4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Grind Powder</a:t>
            </a:r>
          </a:p>
        </p:txBody>
      </p:sp>
      <p:sp>
        <p:nvSpPr>
          <p:cNvPr id="14" name="Text 11"/>
          <p:cNvSpPr/>
          <p:nvPr/>
        </p:nvSpPr>
        <p:spPr>
          <a:xfrm>
            <a:off x="932688" y="2020824"/>
            <a:ext cx="4389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3A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Achieve fine, uniform particles for flat sample surface</a:t>
            </a:r>
          </a:p>
        </p:txBody>
      </p:sp>
      <p:sp>
        <p:nvSpPr>
          <p:cNvPr id="15" name="Shape 12"/>
          <p:cNvSpPr/>
          <p:nvPr/>
        </p:nvSpPr>
        <p:spPr>
          <a:xfrm>
            <a:off x="320040" y="2414016"/>
            <a:ext cx="502920" cy="530352"/>
          </a:xfrm>
          <a:prstGeom prst="rect">
            <a:avLst/>
          </a:prstGeom>
          <a:solidFill>
            <a:srgbClr val="065A72"/>
          </a:solidFill>
          <a:ln w="12700">
            <a:solidFill>
              <a:srgbClr val="065A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320040" y="2414016"/>
            <a:ext cx="50292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932688" y="2432304"/>
            <a:ext cx="4389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02A4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Load Holder</a:t>
            </a:r>
          </a:p>
        </p:txBody>
      </p:sp>
      <p:sp>
        <p:nvSpPr>
          <p:cNvPr id="18" name="Text 15"/>
          <p:cNvSpPr/>
          <p:nvPr/>
        </p:nvSpPr>
        <p:spPr>
          <a:xfrm>
            <a:off x="932688" y="2688336"/>
            <a:ext cx="4389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3A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Flat surface, minimise preferred orientation effects</a:t>
            </a:r>
          </a:p>
        </p:txBody>
      </p:sp>
      <p:sp>
        <p:nvSpPr>
          <p:cNvPr id="19" name="Shape 16"/>
          <p:cNvSpPr/>
          <p:nvPr/>
        </p:nvSpPr>
        <p:spPr>
          <a:xfrm>
            <a:off x="320040" y="3081528"/>
            <a:ext cx="502920" cy="530352"/>
          </a:xfrm>
          <a:prstGeom prst="rect">
            <a:avLst/>
          </a:prstGeom>
          <a:solidFill>
            <a:srgbClr val="065A72"/>
          </a:solidFill>
          <a:ln w="12700">
            <a:solidFill>
              <a:srgbClr val="065A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320040" y="3081528"/>
            <a:ext cx="50292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932688" y="3099816"/>
            <a:ext cx="4389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02A4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Run XRD Scan</a:t>
            </a:r>
          </a:p>
        </p:txBody>
      </p:sp>
      <p:sp>
        <p:nvSpPr>
          <p:cNvPr id="22" name="Text 19"/>
          <p:cNvSpPr/>
          <p:nvPr/>
        </p:nvSpPr>
        <p:spPr>
          <a:xfrm>
            <a:off x="932688" y="3355848"/>
            <a:ext cx="4389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3A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6°–90° 2θ with Cu Kα₁, step 0.026°, 7.14 s/step</a:t>
            </a:r>
          </a:p>
        </p:txBody>
      </p:sp>
      <p:sp>
        <p:nvSpPr>
          <p:cNvPr id="23" name="Shape 20"/>
          <p:cNvSpPr/>
          <p:nvPr/>
        </p:nvSpPr>
        <p:spPr>
          <a:xfrm>
            <a:off x="320040" y="3749040"/>
            <a:ext cx="502920" cy="530352"/>
          </a:xfrm>
          <a:prstGeom prst="rect">
            <a:avLst/>
          </a:prstGeom>
          <a:solidFill>
            <a:srgbClr val="065A72"/>
          </a:solidFill>
          <a:ln w="12700">
            <a:solidFill>
              <a:srgbClr val="065A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320040" y="3749040"/>
            <a:ext cx="50292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05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932688" y="3767328"/>
            <a:ext cx="4389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02A4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Match Phases</a:t>
            </a:r>
          </a:p>
        </p:txBody>
      </p:sp>
      <p:sp>
        <p:nvSpPr>
          <p:cNvPr id="26" name="Text 23"/>
          <p:cNvSpPr/>
          <p:nvPr/>
        </p:nvSpPr>
        <p:spPr>
          <a:xfrm>
            <a:off x="932688" y="4023360"/>
            <a:ext cx="4389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3A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HighScore Plus software + ICDD PDF database</a:t>
            </a:r>
          </a:p>
        </p:txBody>
      </p:sp>
      <p:sp>
        <p:nvSpPr>
          <p:cNvPr id="29" name="Shape 26"/>
          <p:cNvSpPr/>
          <p:nvPr/>
        </p:nvSpPr>
        <p:spPr>
          <a:xfrm>
            <a:off x="320040" y="4892040"/>
            <a:ext cx="850392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320040" y="4928616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27D9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Zisan Zia  •  2004153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5577840" y="4928616"/>
            <a:ext cx="32461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27D9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Dept. of Civil Engineering, BUET</a:t>
            </a:r>
            <a:endParaRPr lang="en-US" sz="800" dirty="0"/>
          </a:p>
        </p:txBody>
      </p:sp>
      <p:sp>
        <p:nvSpPr>
          <p:cNvPr id="32" name="Text Box 31"/>
          <p:cNvSpPr txBox="1"/>
          <p:nvPr/>
        </p:nvSpPr>
        <p:spPr>
          <a:xfrm>
            <a:off x="8289925" y="45720"/>
            <a:ext cx="854075" cy="2247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2004153</a:t>
            </a:r>
          </a:p>
        </p:txBody>
      </p:sp>
      <p:pic>
        <p:nvPicPr>
          <p:cNvPr id="794295340" name="Picture 10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951730" y="1346200"/>
            <a:ext cx="4090035" cy="1853565"/>
          </a:xfrm>
          <a:prstGeom prst="rect">
            <a:avLst/>
          </a:prstGeom>
          <a:noFill/>
        </p:spPr>
      </p:pic>
      <p:sp>
        <p:nvSpPr>
          <p:cNvPr id="27" name="Shape 6"/>
          <p:cNvSpPr/>
          <p:nvPr/>
        </p:nvSpPr>
        <p:spPr>
          <a:xfrm>
            <a:off x="6146800" y="3442970"/>
            <a:ext cx="1691640" cy="274320"/>
          </a:xfrm>
          <a:prstGeom prst="roundRect">
            <a:avLst>
              <a:gd name="adj" fmla="val 26667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7"/>
          <p:cNvSpPr/>
          <p:nvPr/>
        </p:nvSpPr>
        <p:spPr>
          <a:xfrm>
            <a:off x="6219952" y="3520694"/>
            <a:ext cx="1554480" cy="9144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powder sample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95F545-088B-A189-587E-FFCC8AD0B835}"/>
              </a:ext>
            </a:extLst>
          </p:cNvPr>
          <p:cNvSpPr txBox="1"/>
          <p:nvPr/>
        </p:nvSpPr>
        <p:spPr>
          <a:xfrm>
            <a:off x="4441348" y="4844534"/>
            <a:ext cx="26130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-120"/>
              </a:rPr>
              <a:t>9</a:t>
            </a:r>
            <a:endParaRPr lang="en-US" sz="1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5A72"/>
          </a:solidFill>
          <a:ln w="12700">
            <a:solidFill>
              <a:srgbClr val="065A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78638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XRD Measurement Conditions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76072"/>
            <a:ext cx="7863840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200" dirty="0"/>
          </a:p>
        </p:txBody>
      </p:sp>
      <p:pic>
        <p:nvPicPr>
          <p:cNvPr id="6" name="Image 0" descr="/home/claude/unpacked/ppt/media/image5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20040" y="1051560"/>
            <a:ext cx="3200400" cy="3200400"/>
          </a:xfrm>
          <a:prstGeom prst="rect">
            <a:avLst/>
          </a:prstGeom>
        </p:spPr>
      </p:pic>
      <p:graphicFrame>
        <p:nvGraphicFramePr>
          <p:cNvPr id="11" name="Table 0"/>
          <p:cNvGraphicFramePr>
            <a:graphicFrameLocks noGrp="1"/>
          </p:cNvGraphicFramePr>
          <p:nvPr/>
        </p:nvGraphicFramePr>
        <p:xfrm>
          <a:off x="3749040" y="1097280"/>
          <a:ext cx="5102225" cy="3505200"/>
        </p:xfrm>
        <a:graphic>
          <a:graphicData uri="http://schemas.openxmlformats.org/drawingml/2006/table">
            <a:tbl>
              <a:tblPr/>
              <a:tblGrid>
                <a:gridCol w="2022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7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Parameter</a:t>
                      </a:r>
                    </a:p>
                  </a:txBody>
                  <a:tcPr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Value</a:t>
                      </a:r>
                    </a:p>
                  </a:txBody>
                  <a:tcPr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Instrument</a:t>
                      </a:r>
                    </a:p>
                  </a:txBody>
                  <a:tcPr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PANalytical EMPYREAN</a:t>
                      </a:r>
                    </a:p>
                  </a:txBody>
                  <a:tcPr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Radiation</a:t>
                      </a:r>
                    </a:p>
                  </a:txBody>
                  <a:tcPr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Cu Kα₁ = 1.54060 Å</a:t>
                      </a:r>
                    </a:p>
                  </a:txBody>
                  <a:tcPr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Scan range</a:t>
                      </a:r>
                    </a:p>
                  </a:txBody>
                  <a:tcPr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6.006° – 89.986° 2θ</a:t>
                      </a:r>
                    </a:p>
                  </a:txBody>
                  <a:tcPr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Step size</a:t>
                      </a:r>
                    </a:p>
                  </a:txBody>
                  <a:tcPr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0.0260° 2θ</a:t>
                      </a:r>
                    </a:p>
                  </a:txBody>
                  <a:tcPr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Step time</a:t>
                      </a:r>
                    </a:p>
                  </a:txBody>
                  <a:tcPr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7.1400 s</a:t>
                      </a:r>
                    </a:p>
                  </a:txBody>
                  <a:tcPr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Generator</a:t>
                      </a:r>
                    </a:p>
                  </a:txBody>
                  <a:tcPr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45 kV, 40 mA</a:t>
                      </a:r>
                    </a:p>
                  </a:txBody>
                  <a:tcPr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Temperature</a:t>
                      </a:r>
                    </a:p>
                  </a:txBody>
                  <a:tcPr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25 °C</a:t>
                      </a:r>
                    </a:p>
                  </a:txBody>
                  <a:tcPr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320040" y="4892040"/>
            <a:ext cx="850392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7"/>
          <p:cNvSpPr/>
          <p:nvPr/>
        </p:nvSpPr>
        <p:spPr>
          <a:xfrm>
            <a:off x="320040" y="4928616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27D9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Zisan Zia  •  2004153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5577840" y="4928616"/>
            <a:ext cx="32461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27D9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Dept. of Civil Engineering, BUET</a:t>
            </a:r>
            <a:endParaRPr lang="en-US" sz="800" dirty="0"/>
          </a:p>
        </p:txBody>
      </p:sp>
      <p:sp>
        <p:nvSpPr>
          <p:cNvPr id="27" name="Text Box 26"/>
          <p:cNvSpPr txBox="1"/>
          <p:nvPr/>
        </p:nvSpPr>
        <p:spPr>
          <a:xfrm>
            <a:off x="8289925" y="45720"/>
            <a:ext cx="854075" cy="2247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2004153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E90333-C9C6-548B-BF93-4D61E84606EB}"/>
              </a:ext>
            </a:extLst>
          </p:cNvPr>
          <p:cNvSpPr txBox="1"/>
          <p:nvPr/>
        </p:nvSpPr>
        <p:spPr>
          <a:xfrm>
            <a:off x="4371975" y="4844534"/>
            <a:ext cx="4000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-120"/>
              </a:rPr>
              <a:t>10</a:t>
            </a:r>
            <a:endParaRPr lang="en-US" sz="1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-2147482624" descr="tmpBBB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8880" y="960120"/>
            <a:ext cx="3315335" cy="19462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8" name="Picture 67" descr="tmpB2F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5970" y="960120"/>
            <a:ext cx="3284220" cy="198310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0" name="Text Box 69"/>
          <p:cNvSpPr txBox="1"/>
          <p:nvPr/>
        </p:nvSpPr>
        <p:spPr>
          <a:xfrm>
            <a:off x="-169545" y="1779905"/>
            <a:ext cx="1922780" cy="2616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 algn="ctr">
              <a:buNone/>
            </a:pPr>
            <a:r>
              <a:rPr lang="en-US" altLang="en-US" sz="1400" b="1" dirty="0">
                <a:solidFill>
                  <a:srgbClr val="065A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CEM II B-M 42.5 N</a:t>
            </a:r>
          </a:p>
        </p:txBody>
      </p:sp>
      <p:sp>
        <p:nvSpPr>
          <p:cNvPr id="7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5A72"/>
          </a:solidFill>
          <a:ln w="12700">
            <a:solidFill>
              <a:srgbClr val="065A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Box 73"/>
          <p:cNvSpPr txBox="1"/>
          <p:nvPr/>
        </p:nvSpPr>
        <p:spPr>
          <a:xfrm>
            <a:off x="105410" y="99695"/>
            <a:ext cx="593471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buNone/>
            </a:pPr>
            <a:r>
              <a:rPr lang="en-US" sz="2400" b="1" dirty="0">
                <a:solidFill>
                  <a:schemeClr val="bg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  <a:sym typeface="+mn-ea"/>
              </a:rPr>
              <a:t>XRD diffractograms: four samples</a:t>
            </a:r>
          </a:p>
        </p:txBody>
      </p:sp>
      <p:sp>
        <p:nvSpPr>
          <p:cNvPr id="75" name="Text Box 74"/>
          <p:cNvSpPr txBox="1"/>
          <p:nvPr/>
        </p:nvSpPr>
        <p:spPr>
          <a:xfrm>
            <a:off x="3065780" y="1779905"/>
            <a:ext cx="45720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algn="ctr">
              <a:buNone/>
            </a:pPr>
            <a:r>
              <a:rPr lang="en-US" altLang="en-US" sz="1400" b="1" dirty="0">
                <a:solidFill>
                  <a:srgbClr val="065A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CEM II A-M 42.5 N</a:t>
            </a:r>
          </a:p>
        </p:txBody>
      </p:sp>
      <p:pic>
        <p:nvPicPr>
          <p:cNvPr id="76" name="Picture 75" descr="tmpF48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2405" y="2992239"/>
            <a:ext cx="3134360" cy="183959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8" name="Text Box 77"/>
          <p:cNvSpPr txBox="1"/>
          <p:nvPr/>
        </p:nvSpPr>
        <p:spPr>
          <a:xfrm>
            <a:off x="-1498600" y="3672959"/>
            <a:ext cx="45720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algn="ctr">
              <a:buNone/>
            </a:pPr>
            <a:r>
              <a:rPr lang="en-US" altLang="en-US" sz="1400" b="1" dirty="0">
                <a:solidFill>
                  <a:srgbClr val="065A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CEM II A-M 42.5 R</a:t>
            </a:r>
          </a:p>
        </p:txBody>
      </p:sp>
      <p:sp>
        <p:nvSpPr>
          <p:cNvPr id="79" name="Text Box 78"/>
          <p:cNvSpPr txBox="1"/>
          <p:nvPr/>
        </p:nvSpPr>
        <p:spPr>
          <a:xfrm>
            <a:off x="2946400" y="3672959"/>
            <a:ext cx="45720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algn="ctr">
              <a:buNone/>
            </a:pPr>
            <a:r>
              <a:rPr lang="en-US" altLang="en-US" sz="1400" b="1" dirty="0">
                <a:solidFill>
                  <a:srgbClr val="065A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CEM I 52.5 N</a:t>
            </a:r>
          </a:p>
        </p:txBody>
      </p:sp>
      <p:pic>
        <p:nvPicPr>
          <p:cNvPr id="80" name="Picture 79" descr="tmp9EF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3590" y="2880479"/>
            <a:ext cx="3280410" cy="20701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7" name="Text Box 26"/>
          <p:cNvSpPr txBox="1"/>
          <p:nvPr/>
        </p:nvSpPr>
        <p:spPr>
          <a:xfrm>
            <a:off x="8289925" y="45720"/>
            <a:ext cx="854075" cy="2247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2004153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1CE012-7C0D-7B99-71D2-2BD6A74BBED4}"/>
              </a:ext>
            </a:extLst>
          </p:cNvPr>
          <p:cNvSpPr txBox="1"/>
          <p:nvPr/>
        </p:nvSpPr>
        <p:spPr>
          <a:xfrm>
            <a:off x="4371975" y="4844534"/>
            <a:ext cx="4000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-120"/>
              </a:rPr>
              <a:t>11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4" name="Shape 10">
            <a:extLst>
              <a:ext uri="{FF2B5EF4-FFF2-40B4-BE49-F238E27FC236}">
                <a16:creationId xmlns:a16="http://schemas.microsoft.com/office/drawing/2014/main" id="{C9B346F7-A61E-81CD-75B8-DC7D32EC7140}"/>
              </a:ext>
            </a:extLst>
          </p:cNvPr>
          <p:cNvSpPr/>
          <p:nvPr/>
        </p:nvSpPr>
        <p:spPr>
          <a:xfrm>
            <a:off x="105410" y="4881102"/>
            <a:ext cx="850392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11">
            <a:extLst>
              <a:ext uri="{FF2B5EF4-FFF2-40B4-BE49-F238E27FC236}">
                <a16:creationId xmlns:a16="http://schemas.microsoft.com/office/drawing/2014/main" id="{4E6E9B0B-FC0F-B42A-7B22-6C8E41DC4B90}"/>
              </a:ext>
            </a:extLst>
          </p:cNvPr>
          <p:cNvSpPr/>
          <p:nvPr/>
        </p:nvSpPr>
        <p:spPr>
          <a:xfrm>
            <a:off x="105410" y="4917678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27D9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Zisan Zia  •  2004153</a:t>
            </a:r>
            <a:endParaRPr lang="en-US" sz="800" dirty="0"/>
          </a:p>
        </p:txBody>
      </p:sp>
      <p:sp>
        <p:nvSpPr>
          <p:cNvPr id="6" name="Text 12">
            <a:extLst>
              <a:ext uri="{FF2B5EF4-FFF2-40B4-BE49-F238E27FC236}">
                <a16:creationId xmlns:a16="http://schemas.microsoft.com/office/drawing/2014/main" id="{D7543FEF-9F92-971F-C377-BA8102395A36}"/>
              </a:ext>
            </a:extLst>
          </p:cNvPr>
          <p:cNvSpPr/>
          <p:nvPr/>
        </p:nvSpPr>
        <p:spPr>
          <a:xfrm>
            <a:off x="5363210" y="4917678"/>
            <a:ext cx="32461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27D9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Dept. of Civil Engineering, BUET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5A72"/>
          </a:solidFill>
          <a:ln w="12700">
            <a:solidFill>
              <a:srgbClr val="065A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78638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Semi-Quantitative XRD Phase Composition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76072"/>
            <a:ext cx="7863840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812280" y="1051560"/>
            <a:ext cx="2220595" cy="3744595"/>
          </a:xfrm>
          <a:prstGeom prst="rect">
            <a:avLst/>
          </a:prstGeom>
          <a:solidFill>
            <a:srgbClr val="E6F7FA"/>
          </a:solidFill>
          <a:ln w="12700">
            <a:solidFill>
              <a:srgbClr val="1A9CB0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903720" y="1097280"/>
            <a:ext cx="2129155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770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Why rapid hardening shows high early heat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903720" y="1837690"/>
            <a:ext cx="2066925" cy="30575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en-US" sz="1600" dirty="0"/>
              <a:t>CEM II A-M 42.5R has a high reactive clinker fraction:</a:t>
            </a:r>
          </a:p>
          <a:p>
            <a:pPr marL="0" indent="0">
              <a:buNone/>
            </a:pPr>
            <a:r>
              <a:rPr lang="en-US" altLang="en-US" sz="1600" dirty="0"/>
              <a:t>C₃S + C₂S + C₃A + C₄AF</a:t>
            </a:r>
          </a:p>
          <a:p>
            <a:pPr marL="0" indent="0">
              <a:buNone/>
            </a:pPr>
            <a:r>
              <a:rPr lang="en-US" altLang="en-US" sz="1600" dirty="0"/>
              <a:t>= 51.5 + 14.6 + 7.8 + 7.8</a:t>
            </a:r>
          </a:p>
          <a:p>
            <a:pPr marL="0" indent="0">
              <a:buNone/>
            </a:pPr>
            <a:r>
              <a:rPr lang="en-US" altLang="en-US" sz="1600" dirty="0"/>
              <a:t>= 81.7%</a:t>
            </a:r>
          </a:p>
          <a:p>
            <a:pPr marL="0" indent="0">
              <a:buNone/>
            </a:pPr>
            <a:endParaRPr lang="en-US" altLang="en-US" sz="16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sz="1600" dirty="0"/>
              <a:t>High C₃S gives faster early hydration and strength gain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sz="1600" dirty="0"/>
              <a:t>C₃A increases early heat emission</a:t>
            </a:r>
          </a:p>
          <a:p>
            <a:pPr marL="0" indent="0">
              <a:buNone/>
            </a:pPr>
            <a:endParaRPr lang="en-US" alt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20040" y="4892040"/>
            <a:ext cx="850392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20040" y="4928616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27D9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Zisan Zia  •  2004153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5577840" y="4928616"/>
            <a:ext cx="32461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27D9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Dept. of Civil Engineering, BUET</a:t>
            </a:r>
            <a:endParaRPr lang="en-US" sz="800" dirty="0"/>
          </a:p>
        </p:txBody>
      </p:sp>
      <p:sp>
        <p:nvSpPr>
          <p:cNvPr id="27" name="Text Box 26"/>
          <p:cNvSpPr txBox="1"/>
          <p:nvPr/>
        </p:nvSpPr>
        <p:spPr>
          <a:xfrm>
            <a:off x="8289925" y="45720"/>
            <a:ext cx="854075" cy="2247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2004153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095" y="1383030"/>
            <a:ext cx="6137275" cy="30861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234D854-67A3-8C05-41A1-4A919B7DFFB5}"/>
              </a:ext>
            </a:extLst>
          </p:cNvPr>
          <p:cNvSpPr txBox="1"/>
          <p:nvPr/>
        </p:nvSpPr>
        <p:spPr>
          <a:xfrm>
            <a:off x="4371975" y="4844534"/>
            <a:ext cx="4000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-120"/>
              </a:rPr>
              <a:t>12</a:t>
            </a:r>
            <a:endParaRPr lang="en-US" sz="1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5A72"/>
          </a:solidFill>
          <a:ln w="12700">
            <a:solidFill>
              <a:srgbClr val="065A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78638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From Phase Composition to Heat Evolution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76072"/>
            <a:ext cx="7863840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2194560" cy="5303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078992"/>
            <a:ext cx="219456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bg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C₃S / Alite</a:t>
            </a:r>
          </a:p>
        </p:txBody>
      </p:sp>
      <p:sp>
        <p:nvSpPr>
          <p:cNvPr id="8" name="Shape 6"/>
          <p:cNvSpPr/>
          <p:nvPr/>
        </p:nvSpPr>
        <p:spPr>
          <a:xfrm>
            <a:off x="2606040" y="1078992"/>
            <a:ext cx="61722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743200" y="1078992"/>
            <a:ext cx="589788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3A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 heat + early strength</a:t>
            </a:r>
          </a:p>
        </p:txBody>
      </p:sp>
      <p:sp>
        <p:nvSpPr>
          <p:cNvPr id="10" name="Shape 8"/>
          <p:cNvSpPr/>
          <p:nvPr/>
        </p:nvSpPr>
        <p:spPr>
          <a:xfrm>
            <a:off x="320040" y="1737360"/>
            <a:ext cx="2194560" cy="530352"/>
          </a:xfrm>
          <a:prstGeom prst="rect">
            <a:avLst/>
          </a:prstGeom>
          <a:solidFill>
            <a:srgbClr val="065A72"/>
          </a:solidFill>
          <a:ln w="12700">
            <a:solidFill>
              <a:srgbClr val="065A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0040" y="1737360"/>
            <a:ext cx="219456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bg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C₂S / Belite</a:t>
            </a:r>
          </a:p>
        </p:txBody>
      </p:sp>
      <p:sp>
        <p:nvSpPr>
          <p:cNvPr id="12" name="Shape 10"/>
          <p:cNvSpPr/>
          <p:nvPr/>
        </p:nvSpPr>
        <p:spPr>
          <a:xfrm>
            <a:off x="2606040" y="1737360"/>
            <a:ext cx="61722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43200" y="1737360"/>
            <a:ext cx="589788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3A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Slower, later-age hydration</a:t>
            </a:r>
          </a:p>
        </p:txBody>
      </p:sp>
      <p:sp>
        <p:nvSpPr>
          <p:cNvPr id="14" name="Shape 12"/>
          <p:cNvSpPr/>
          <p:nvPr/>
        </p:nvSpPr>
        <p:spPr>
          <a:xfrm>
            <a:off x="320040" y="2395728"/>
            <a:ext cx="2194560" cy="530352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0040" y="2395728"/>
            <a:ext cx="219456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bg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C₃A / Aluminate</a:t>
            </a:r>
          </a:p>
        </p:txBody>
      </p:sp>
      <p:sp>
        <p:nvSpPr>
          <p:cNvPr id="16" name="Shape 14"/>
          <p:cNvSpPr/>
          <p:nvPr/>
        </p:nvSpPr>
        <p:spPr>
          <a:xfrm>
            <a:off x="2606040" y="2395728"/>
            <a:ext cx="61722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743200" y="2395728"/>
            <a:ext cx="589788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3A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Early exothermic spike (1</a:t>
            </a:r>
            <a:r>
              <a:rPr lang="en-US" baseline="30000" dirty="0">
                <a:solidFill>
                  <a:srgbClr val="1E3A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</a:t>
            </a:r>
            <a:r>
              <a:rPr lang="en-US" dirty="0">
                <a:solidFill>
                  <a:srgbClr val="1E3A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peak)</a:t>
            </a:r>
          </a:p>
        </p:txBody>
      </p:sp>
      <p:sp>
        <p:nvSpPr>
          <p:cNvPr id="18" name="Shape 16"/>
          <p:cNvSpPr/>
          <p:nvPr/>
        </p:nvSpPr>
        <p:spPr>
          <a:xfrm>
            <a:off x="320040" y="3054096"/>
            <a:ext cx="2194560" cy="530352"/>
          </a:xfrm>
          <a:prstGeom prst="rect">
            <a:avLst/>
          </a:prstGeom>
          <a:solidFill>
            <a:srgbClr val="486581"/>
          </a:solidFill>
          <a:ln w="12700">
            <a:solidFill>
              <a:srgbClr val="4865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0040" y="3054096"/>
            <a:ext cx="219456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bg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CaCO₃ / Filler</a:t>
            </a:r>
          </a:p>
        </p:txBody>
      </p:sp>
      <p:sp>
        <p:nvSpPr>
          <p:cNvPr id="20" name="Shape 18"/>
          <p:cNvSpPr/>
          <p:nvPr/>
        </p:nvSpPr>
        <p:spPr>
          <a:xfrm>
            <a:off x="2606040" y="3054096"/>
            <a:ext cx="61722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743200" y="3054096"/>
            <a:ext cx="589788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en-US" dirty="0"/>
              <a:t>Clinker dilution → reduces heat generation</a:t>
            </a:r>
          </a:p>
        </p:txBody>
      </p:sp>
      <p:sp>
        <p:nvSpPr>
          <p:cNvPr id="22" name="Shape 20"/>
          <p:cNvSpPr/>
          <p:nvPr/>
        </p:nvSpPr>
        <p:spPr>
          <a:xfrm>
            <a:off x="320040" y="3712464"/>
            <a:ext cx="2194560" cy="530352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20040" y="3712464"/>
            <a:ext cx="219456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en-US" b="1" dirty="0">
                <a:solidFill>
                  <a:schemeClr val="bg1"/>
                </a:solidFill>
              </a:rPr>
              <a:t>Mixed Mineral Additions</a:t>
            </a:r>
          </a:p>
        </p:txBody>
      </p:sp>
      <p:sp>
        <p:nvSpPr>
          <p:cNvPr id="24" name="Shape 22"/>
          <p:cNvSpPr/>
          <p:nvPr/>
        </p:nvSpPr>
        <p:spPr>
          <a:xfrm>
            <a:off x="2606040" y="3712464"/>
            <a:ext cx="61722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743200" y="3712464"/>
            <a:ext cx="589788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en-US" dirty="0"/>
              <a:t>Slower hydration + lowest cumulative heat</a:t>
            </a:r>
          </a:p>
        </p:txBody>
      </p:sp>
      <p:sp>
        <p:nvSpPr>
          <p:cNvPr id="28" name="Shape 26"/>
          <p:cNvSpPr/>
          <p:nvPr/>
        </p:nvSpPr>
        <p:spPr>
          <a:xfrm>
            <a:off x="320040" y="4892040"/>
            <a:ext cx="850392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20040" y="4928616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27D9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Zisan Zia  •  2004153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577840" y="4928616"/>
            <a:ext cx="32461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27D9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Dept. of Civil Engineering, BUET</a:t>
            </a:r>
            <a:endParaRPr lang="en-US" sz="800" dirty="0"/>
          </a:p>
        </p:txBody>
      </p:sp>
      <p:sp>
        <p:nvSpPr>
          <p:cNvPr id="31" name="Text Box 30"/>
          <p:cNvSpPr txBox="1"/>
          <p:nvPr/>
        </p:nvSpPr>
        <p:spPr>
          <a:xfrm>
            <a:off x="8289925" y="45720"/>
            <a:ext cx="854075" cy="2247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2004153</a:t>
            </a:r>
          </a:p>
        </p:txBody>
      </p:sp>
      <p:sp>
        <p:nvSpPr>
          <p:cNvPr id="5" name="Shape 10">
            <a:extLst>
              <a:ext uri="{FF2B5EF4-FFF2-40B4-BE49-F238E27FC236}">
                <a16:creationId xmlns:a16="http://schemas.microsoft.com/office/drawing/2014/main" id="{17518439-DBBD-A039-9B23-259DC58FF3E7}"/>
              </a:ext>
            </a:extLst>
          </p:cNvPr>
          <p:cNvSpPr/>
          <p:nvPr/>
        </p:nvSpPr>
        <p:spPr>
          <a:xfrm>
            <a:off x="320040" y="4892040"/>
            <a:ext cx="850392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41C584A6-6AFF-3BF2-A57D-8E9F72AEB222}"/>
              </a:ext>
            </a:extLst>
          </p:cNvPr>
          <p:cNvSpPr/>
          <p:nvPr/>
        </p:nvSpPr>
        <p:spPr>
          <a:xfrm>
            <a:off x="320040" y="4928616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27D9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Zisan Zia  •  2004153</a:t>
            </a:r>
            <a:endParaRPr lang="en-US" sz="800" dirty="0"/>
          </a:p>
        </p:txBody>
      </p:sp>
      <p:sp>
        <p:nvSpPr>
          <p:cNvPr id="27" name="Text 12">
            <a:extLst>
              <a:ext uri="{FF2B5EF4-FFF2-40B4-BE49-F238E27FC236}">
                <a16:creationId xmlns:a16="http://schemas.microsoft.com/office/drawing/2014/main" id="{7304271B-3D6D-8E56-71DC-CAA590CAC8A6}"/>
              </a:ext>
            </a:extLst>
          </p:cNvPr>
          <p:cNvSpPr/>
          <p:nvPr/>
        </p:nvSpPr>
        <p:spPr>
          <a:xfrm>
            <a:off x="5577840" y="4928616"/>
            <a:ext cx="32461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27D9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Dept. of Civil Engineering, BUET</a:t>
            </a:r>
            <a:endParaRPr lang="en-US" sz="8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9F8BE73-8499-64DA-A82A-BED5C79E252A}"/>
              </a:ext>
            </a:extLst>
          </p:cNvPr>
          <p:cNvSpPr txBox="1"/>
          <p:nvPr/>
        </p:nvSpPr>
        <p:spPr>
          <a:xfrm>
            <a:off x="4371975" y="4844534"/>
            <a:ext cx="4000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-120"/>
              </a:rPr>
              <a:t>13</a:t>
            </a:r>
            <a:endParaRPr lang="en-US" sz="1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0" y="1495425"/>
            <a:ext cx="4395470" cy="2896235"/>
          </a:xfrm>
          <a:prstGeom prst="roundRect">
            <a:avLst>
              <a:gd name="adj" fmla="val 6857"/>
            </a:avLst>
          </a:prstGeom>
          <a:solidFill>
            <a:srgbClr val="1C3A6E"/>
          </a:solidFill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366395" y="2226945"/>
            <a:ext cx="3977005" cy="34734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59E0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High Reactive Clinker Fraction</a:t>
            </a:r>
          </a:p>
        </p:txBody>
      </p:sp>
      <p:sp>
        <p:nvSpPr>
          <p:cNvPr id="9" name="Shape 6"/>
          <p:cNvSpPr/>
          <p:nvPr/>
        </p:nvSpPr>
        <p:spPr>
          <a:xfrm>
            <a:off x="530352" y="2757297"/>
            <a:ext cx="1695298" cy="192024"/>
          </a:xfrm>
          <a:prstGeom prst="rect">
            <a:avLst/>
          </a:prstGeom>
          <a:solidFill>
            <a:srgbClr val="185FA5"/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2280285" y="2757170"/>
            <a:ext cx="826135" cy="19177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C₃S</a:t>
            </a:r>
          </a:p>
        </p:txBody>
      </p:sp>
      <p:sp>
        <p:nvSpPr>
          <p:cNvPr id="11" name="Text 8"/>
          <p:cNvSpPr/>
          <p:nvPr/>
        </p:nvSpPr>
        <p:spPr>
          <a:xfrm>
            <a:off x="3091180" y="2757170"/>
            <a:ext cx="859155" cy="19177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51.5%</a:t>
            </a:r>
          </a:p>
        </p:txBody>
      </p:sp>
      <p:sp>
        <p:nvSpPr>
          <p:cNvPr id="12" name="Shape 9"/>
          <p:cNvSpPr/>
          <p:nvPr/>
        </p:nvSpPr>
        <p:spPr>
          <a:xfrm>
            <a:off x="530352" y="2985897"/>
            <a:ext cx="480609" cy="192024"/>
          </a:xfrm>
          <a:prstGeom prst="rect">
            <a:avLst/>
          </a:prstGeom>
          <a:solidFill>
            <a:srgbClr val="639922"/>
          </a:solidFill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1065530" y="2985770"/>
            <a:ext cx="951865" cy="19177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C₂S</a:t>
            </a:r>
          </a:p>
        </p:txBody>
      </p:sp>
      <p:sp>
        <p:nvSpPr>
          <p:cNvPr id="14" name="Text 11"/>
          <p:cNvSpPr/>
          <p:nvPr/>
        </p:nvSpPr>
        <p:spPr>
          <a:xfrm>
            <a:off x="3107055" y="2985770"/>
            <a:ext cx="843280" cy="19177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14.6%</a:t>
            </a:r>
          </a:p>
        </p:txBody>
      </p:sp>
      <p:sp>
        <p:nvSpPr>
          <p:cNvPr id="15" name="Shape 12"/>
          <p:cNvSpPr/>
          <p:nvPr/>
        </p:nvSpPr>
        <p:spPr>
          <a:xfrm>
            <a:off x="530352" y="3214497"/>
            <a:ext cx="256764" cy="192024"/>
          </a:xfrm>
          <a:prstGeom prst="rect">
            <a:avLst/>
          </a:prstGeom>
          <a:solidFill>
            <a:srgbClr val="BA7517"/>
          </a:solidFill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842010" y="3214370"/>
            <a:ext cx="869315" cy="19177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C₃A</a:t>
            </a:r>
          </a:p>
        </p:txBody>
      </p:sp>
      <p:sp>
        <p:nvSpPr>
          <p:cNvPr id="17" name="Text 14"/>
          <p:cNvSpPr/>
          <p:nvPr/>
        </p:nvSpPr>
        <p:spPr>
          <a:xfrm>
            <a:off x="3107690" y="3214370"/>
            <a:ext cx="842645" cy="19177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7.8%</a:t>
            </a:r>
          </a:p>
        </p:txBody>
      </p:sp>
      <p:sp>
        <p:nvSpPr>
          <p:cNvPr id="18" name="Shape 15"/>
          <p:cNvSpPr/>
          <p:nvPr/>
        </p:nvSpPr>
        <p:spPr>
          <a:xfrm>
            <a:off x="530352" y="3443097"/>
            <a:ext cx="256764" cy="192024"/>
          </a:xfrm>
          <a:prstGeom prst="rect">
            <a:avLst/>
          </a:prstGeom>
          <a:solidFill>
            <a:srgbClr val="A32D2D"/>
          </a:solidFill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842010" y="3442970"/>
            <a:ext cx="842010" cy="19177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C₄AF</a:t>
            </a:r>
          </a:p>
        </p:txBody>
      </p:sp>
      <p:sp>
        <p:nvSpPr>
          <p:cNvPr id="20" name="Text 17"/>
          <p:cNvSpPr/>
          <p:nvPr/>
        </p:nvSpPr>
        <p:spPr>
          <a:xfrm>
            <a:off x="3091180" y="3442970"/>
            <a:ext cx="859155" cy="19177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7.8%</a:t>
            </a:r>
          </a:p>
        </p:txBody>
      </p:sp>
      <p:sp>
        <p:nvSpPr>
          <p:cNvPr id="21" name="Shape 18"/>
          <p:cNvSpPr/>
          <p:nvPr/>
        </p:nvSpPr>
        <p:spPr>
          <a:xfrm>
            <a:off x="530352" y="3671697"/>
            <a:ext cx="477317" cy="192024"/>
          </a:xfrm>
          <a:prstGeom prst="rect">
            <a:avLst/>
          </a:prstGeom>
          <a:solidFill>
            <a:srgbClr val="64748B"/>
          </a:solidFill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1062355" y="3671570"/>
            <a:ext cx="842010" cy="19177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Filler</a:t>
            </a:r>
          </a:p>
        </p:txBody>
      </p:sp>
      <p:sp>
        <p:nvSpPr>
          <p:cNvPr id="23" name="Text 20"/>
          <p:cNvSpPr/>
          <p:nvPr/>
        </p:nvSpPr>
        <p:spPr>
          <a:xfrm>
            <a:off x="3108325" y="3671570"/>
            <a:ext cx="842010" cy="19177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14.5%</a:t>
            </a:r>
          </a:p>
        </p:txBody>
      </p:sp>
      <p:sp>
        <p:nvSpPr>
          <p:cNvPr id="36" name="Shape 32"/>
          <p:cNvSpPr/>
          <p:nvPr/>
        </p:nvSpPr>
        <p:spPr>
          <a:xfrm>
            <a:off x="4344035" y="2226945"/>
            <a:ext cx="4799965" cy="1930400"/>
          </a:xfrm>
          <a:prstGeom prst="roundRect">
            <a:avLst>
              <a:gd name="adj" fmla="val 7407"/>
            </a:avLst>
          </a:prstGeom>
          <a:solidFill>
            <a:srgbClr val="064E3B"/>
          </a:solidFill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Text 33"/>
          <p:cNvSpPr/>
          <p:nvPr/>
        </p:nvSpPr>
        <p:spPr>
          <a:xfrm>
            <a:off x="4546600" y="2281555"/>
            <a:ext cx="4455160" cy="32893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34D399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Best For — Early Strength Applications</a:t>
            </a:r>
          </a:p>
        </p:txBody>
      </p:sp>
      <p:sp>
        <p:nvSpPr>
          <p:cNvPr id="39" name="Text 34"/>
          <p:cNvSpPr/>
          <p:nvPr/>
        </p:nvSpPr>
        <p:spPr>
          <a:xfrm>
            <a:off x="4469765" y="2702560"/>
            <a:ext cx="4284980" cy="21971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</a:t>
            </a:r>
            <a:r>
              <a:rPr lang="en-US" sz="1600" dirty="0">
                <a:solidFill>
                  <a:srgbClr val="D1FA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Precast concrete — fast demoulding cycle</a:t>
            </a:r>
            <a:endParaRPr lang="en-US" sz="1600" dirty="0"/>
          </a:p>
        </p:txBody>
      </p:sp>
      <p:sp>
        <p:nvSpPr>
          <p:cNvPr id="40" name="Text 35"/>
          <p:cNvSpPr/>
          <p:nvPr/>
        </p:nvSpPr>
        <p:spPr>
          <a:xfrm>
            <a:off x="4469765" y="2931160"/>
            <a:ext cx="4823460" cy="21971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</a:t>
            </a:r>
            <a:r>
              <a:rPr lang="en-US" sz="1600" dirty="0">
                <a:solidFill>
                  <a:srgbClr val="D1FA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Cold-weather pours — gain strength before freeze</a:t>
            </a:r>
            <a:endParaRPr lang="en-US" sz="1600" dirty="0"/>
          </a:p>
        </p:txBody>
      </p:sp>
      <p:sp>
        <p:nvSpPr>
          <p:cNvPr id="61" name="Text 36"/>
          <p:cNvSpPr/>
          <p:nvPr/>
        </p:nvSpPr>
        <p:spPr>
          <a:xfrm>
            <a:off x="4469765" y="3159760"/>
            <a:ext cx="4331970" cy="21971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</a:t>
            </a:r>
            <a:r>
              <a:rPr lang="en-US" sz="1600" dirty="0">
                <a:solidFill>
                  <a:srgbClr val="D1FA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Rapid formwork removal in framed structures</a:t>
            </a:r>
            <a:endParaRPr lang="en-US" sz="1600" dirty="0"/>
          </a:p>
        </p:txBody>
      </p:sp>
      <p:sp>
        <p:nvSpPr>
          <p:cNvPr id="62" name="Text 37"/>
          <p:cNvSpPr/>
          <p:nvPr/>
        </p:nvSpPr>
        <p:spPr>
          <a:xfrm>
            <a:off x="4469765" y="3388360"/>
            <a:ext cx="4255135" cy="21971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</a:t>
            </a:r>
            <a:r>
              <a:rPr lang="en-US" sz="1600" dirty="0">
                <a:solidFill>
                  <a:srgbClr val="D1FA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Road repairs needing early opening to traffic</a:t>
            </a:r>
            <a:endParaRPr lang="en-US" sz="1600" dirty="0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5A72"/>
          </a:solidFill>
          <a:ln w="12700">
            <a:solidFill>
              <a:srgbClr val="065A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365760" y="121285"/>
            <a:ext cx="4572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  <a:sym typeface="+mn-ea"/>
              </a:rPr>
              <a:t>CEM II A-M 42.5R</a:t>
            </a:r>
          </a:p>
        </p:txBody>
      </p:sp>
      <p:sp>
        <p:nvSpPr>
          <p:cNvPr id="27" name="Text Box 26"/>
          <p:cNvSpPr txBox="1"/>
          <p:nvPr/>
        </p:nvSpPr>
        <p:spPr>
          <a:xfrm>
            <a:off x="8289925" y="53975"/>
            <a:ext cx="854075" cy="2247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2004153</a:t>
            </a:r>
          </a:p>
        </p:txBody>
      </p:sp>
      <p:sp>
        <p:nvSpPr>
          <p:cNvPr id="4" name="Shape 10">
            <a:extLst>
              <a:ext uri="{FF2B5EF4-FFF2-40B4-BE49-F238E27FC236}">
                <a16:creationId xmlns:a16="http://schemas.microsoft.com/office/drawing/2014/main" id="{A3F2D695-E9CD-5B76-1AD5-6B0473DE44FE}"/>
              </a:ext>
            </a:extLst>
          </p:cNvPr>
          <p:cNvSpPr/>
          <p:nvPr/>
        </p:nvSpPr>
        <p:spPr>
          <a:xfrm>
            <a:off x="320040" y="4892040"/>
            <a:ext cx="850392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11">
            <a:extLst>
              <a:ext uri="{FF2B5EF4-FFF2-40B4-BE49-F238E27FC236}">
                <a16:creationId xmlns:a16="http://schemas.microsoft.com/office/drawing/2014/main" id="{1E3B7402-D790-70BE-23FA-5C7FD4DAE83E}"/>
              </a:ext>
            </a:extLst>
          </p:cNvPr>
          <p:cNvSpPr/>
          <p:nvPr/>
        </p:nvSpPr>
        <p:spPr>
          <a:xfrm>
            <a:off x="320040" y="4928616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27D9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Zisan Zia  •  2004153</a:t>
            </a:r>
            <a:endParaRPr lang="en-US" sz="800" dirty="0"/>
          </a:p>
        </p:txBody>
      </p:sp>
      <p:sp>
        <p:nvSpPr>
          <p:cNvPr id="7" name="Text 12">
            <a:extLst>
              <a:ext uri="{FF2B5EF4-FFF2-40B4-BE49-F238E27FC236}">
                <a16:creationId xmlns:a16="http://schemas.microsoft.com/office/drawing/2014/main" id="{720F6238-DB89-BF02-8661-DAD9EFA96367}"/>
              </a:ext>
            </a:extLst>
          </p:cNvPr>
          <p:cNvSpPr/>
          <p:nvPr/>
        </p:nvSpPr>
        <p:spPr>
          <a:xfrm>
            <a:off x="5577840" y="4928616"/>
            <a:ext cx="32461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27D9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Dept. of Civil Engineering, BUET</a:t>
            </a:r>
            <a:endParaRPr lang="en-US" sz="8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FB3B0B5-9EDB-1A2D-3397-A777CA4D2722}"/>
              </a:ext>
            </a:extLst>
          </p:cNvPr>
          <p:cNvSpPr txBox="1"/>
          <p:nvPr/>
        </p:nvSpPr>
        <p:spPr>
          <a:xfrm>
            <a:off x="4371975" y="4844534"/>
            <a:ext cx="4000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-120"/>
              </a:rPr>
              <a:t>14</a:t>
            </a:r>
            <a:endParaRPr lang="en-US" sz="1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1468032" name="Picture 2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670" y="1247775"/>
            <a:ext cx="1881505" cy="2582545"/>
          </a:xfrm>
          <a:prstGeom prst="rect">
            <a:avLst/>
          </a:prstGeom>
        </p:spPr>
      </p:pic>
      <p:sp>
        <p:nvSpPr>
          <p:cNvPr id="3" name="Text 1"/>
          <p:cNvSpPr/>
          <p:nvPr/>
        </p:nvSpPr>
        <p:spPr>
          <a:xfrm>
            <a:off x="365760" y="45720"/>
            <a:ext cx="78638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Semi-Adiabatic Calorimetry Setup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0" y="658368"/>
            <a:ext cx="8229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2C5D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 / 22</a:t>
            </a:r>
            <a:endParaRPr lang="en-US" sz="900" dirty="0"/>
          </a:p>
        </p:txBody>
      </p:sp>
      <p:sp>
        <p:nvSpPr>
          <p:cNvPr id="28" name="Text Box 27"/>
          <p:cNvSpPr txBox="1"/>
          <p:nvPr/>
        </p:nvSpPr>
        <p:spPr>
          <a:xfrm>
            <a:off x="8289925" y="45720"/>
            <a:ext cx="854075" cy="2247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2004153</a:t>
            </a:r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5A72"/>
          </a:solidFill>
          <a:ln w="12700">
            <a:solidFill>
              <a:srgbClr val="065A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1"/>
          <p:cNvSpPr/>
          <p:nvPr/>
        </p:nvSpPr>
        <p:spPr>
          <a:xfrm>
            <a:off x="245110" y="172720"/>
            <a:ext cx="78638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Semi-Adiabatic Calorimetry Setup</a:t>
            </a:r>
            <a:endParaRPr lang="en-US" sz="2200" dirty="0"/>
          </a:p>
        </p:txBody>
      </p:sp>
      <p:sp>
        <p:nvSpPr>
          <p:cNvPr id="10" name="Text Box 9"/>
          <p:cNvSpPr txBox="1"/>
          <p:nvPr/>
        </p:nvSpPr>
        <p:spPr>
          <a:xfrm>
            <a:off x="8289925" y="19685"/>
            <a:ext cx="854075" cy="2247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2004153</a:t>
            </a:r>
          </a:p>
        </p:txBody>
      </p:sp>
      <p:pic>
        <p:nvPicPr>
          <p:cNvPr id="1130720492" name="Picture 2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0175" y="1247775"/>
            <a:ext cx="1697990" cy="258191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772285" y="3996690"/>
            <a:ext cx="1676400" cy="55753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instrumented setup</a:t>
            </a:r>
          </a:p>
        </p:txBody>
      </p:sp>
      <p:pic>
        <p:nvPicPr>
          <p:cNvPr id="1678862266" name="Picture 3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0155" y="1257300"/>
            <a:ext cx="3440430" cy="254508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6022975" y="4017645"/>
            <a:ext cx="2328545" cy="327660"/>
          </a:xfrm>
          <a:prstGeom prst="roundRect">
            <a:avLst>
              <a:gd name="adj" fmla="val 26667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9"/>
          <p:cNvSpPr/>
          <p:nvPr/>
        </p:nvSpPr>
        <p:spPr>
          <a:xfrm>
            <a:off x="6096000" y="4048125"/>
            <a:ext cx="2139950" cy="28638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temperature logging</a:t>
            </a:r>
          </a:p>
        </p:txBody>
      </p:sp>
      <p:sp>
        <p:nvSpPr>
          <p:cNvPr id="18" name="Shape 8"/>
          <p:cNvSpPr/>
          <p:nvPr/>
        </p:nvSpPr>
        <p:spPr>
          <a:xfrm>
            <a:off x="1446530" y="4008120"/>
            <a:ext cx="2328545" cy="337185"/>
          </a:xfrm>
          <a:prstGeom prst="roundRect">
            <a:avLst>
              <a:gd name="adj" fmla="val 26667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Box 18"/>
          <p:cNvSpPr txBox="1"/>
          <p:nvPr/>
        </p:nvSpPr>
        <p:spPr>
          <a:xfrm>
            <a:off x="365760" y="3982085"/>
            <a:ext cx="4572000" cy="3524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sym typeface="+mn-ea"/>
              </a:rPr>
              <a:t>Instrumental Setup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9C539D-DE25-3136-53DB-7256031361CC}"/>
              </a:ext>
            </a:extLst>
          </p:cNvPr>
          <p:cNvSpPr txBox="1"/>
          <p:nvPr/>
        </p:nvSpPr>
        <p:spPr>
          <a:xfrm>
            <a:off x="4371975" y="4844534"/>
            <a:ext cx="4000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-120"/>
              </a:rPr>
              <a:t>15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6" name="Shape 22">
            <a:extLst>
              <a:ext uri="{FF2B5EF4-FFF2-40B4-BE49-F238E27FC236}">
                <a16:creationId xmlns:a16="http://schemas.microsoft.com/office/drawing/2014/main" id="{A4C19316-A698-822C-EDF6-A686EF39ECA7}"/>
              </a:ext>
            </a:extLst>
          </p:cNvPr>
          <p:cNvSpPr/>
          <p:nvPr/>
        </p:nvSpPr>
        <p:spPr>
          <a:xfrm>
            <a:off x="142240" y="4878324"/>
            <a:ext cx="850392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23">
            <a:extLst>
              <a:ext uri="{FF2B5EF4-FFF2-40B4-BE49-F238E27FC236}">
                <a16:creationId xmlns:a16="http://schemas.microsoft.com/office/drawing/2014/main" id="{933619DB-9822-1B5F-36FB-2D3272815843}"/>
              </a:ext>
            </a:extLst>
          </p:cNvPr>
          <p:cNvSpPr/>
          <p:nvPr/>
        </p:nvSpPr>
        <p:spPr>
          <a:xfrm>
            <a:off x="142240" y="4914900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27D9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Zisan Zia  •  2004153</a:t>
            </a:r>
            <a:endParaRPr lang="en-US" sz="800" dirty="0"/>
          </a:p>
        </p:txBody>
      </p:sp>
      <p:sp>
        <p:nvSpPr>
          <p:cNvPr id="9" name="Text 24">
            <a:extLst>
              <a:ext uri="{FF2B5EF4-FFF2-40B4-BE49-F238E27FC236}">
                <a16:creationId xmlns:a16="http://schemas.microsoft.com/office/drawing/2014/main" id="{B40BFDB5-B5F2-E50F-E742-518CF4297265}"/>
              </a:ext>
            </a:extLst>
          </p:cNvPr>
          <p:cNvSpPr/>
          <p:nvPr/>
        </p:nvSpPr>
        <p:spPr>
          <a:xfrm>
            <a:off x="5400040" y="4914900"/>
            <a:ext cx="32461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27D9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Dept. of Civil Engineering, BUET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5A72"/>
          </a:solidFill>
          <a:ln w="12700">
            <a:solidFill>
              <a:srgbClr val="065A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78638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Semi-Adiabatic Calorimetry Setup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4160520" y="1078992"/>
            <a:ext cx="502920" cy="594360"/>
          </a:xfrm>
          <a:prstGeom prst="rect">
            <a:avLst/>
          </a:prstGeom>
          <a:solidFill>
            <a:srgbClr val="065A72"/>
          </a:solidFill>
          <a:ln w="12700">
            <a:solidFill>
              <a:srgbClr val="065A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160520" y="1078992"/>
            <a:ext cx="5029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754880" y="1124712"/>
            <a:ext cx="4069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2A4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Sample Vial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754880" y="1371600"/>
            <a:ext cx="406908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Sealed cement paste (w/c=0.40) in polypropylene vial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160520" y="1883664"/>
            <a:ext cx="502920" cy="594360"/>
          </a:xfrm>
          <a:prstGeom prst="rect">
            <a:avLst/>
          </a:prstGeom>
          <a:solidFill>
            <a:srgbClr val="065A72"/>
          </a:solidFill>
          <a:ln w="12700">
            <a:solidFill>
              <a:srgbClr val="065A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160520" y="1883664"/>
            <a:ext cx="5029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754880" y="1929384"/>
            <a:ext cx="4069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2A4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Temperature Sensors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754880" y="2176272"/>
            <a:ext cx="406908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Thermocouples record Tₛ(t) sample and Tₐₘᵦ(t) ambient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160520" y="2688336"/>
            <a:ext cx="502920" cy="594360"/>
          </a:xfrm>
          <a:prstGeom prst="rect">
            <a:avLst/>
          </a:prstGeom>
          <a:solidFill>
            <a:srgbClr val="065A72"/>
          </a:solidFill>
          <a:ln w="12700">
            <a:solidFill>
              <a:srgbClr val="065A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160520" y="2688336"/>
            <a:ext cx="5029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754880" y="2734056"/>
            <a:ext cx="4069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2A4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Insulation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754880" y="2980944"/>
            <a:ext cx="406908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Limits — but does not eliminate — heat loss to surroundings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160520" y="3493008"/>
            <a:ext cx="502920" cy="594360"/>
          </a:xfrm>
          <a:prstGeom prst="rect">
            <a:avLst/>
          </a:prstGeom>
          <a:solidFill>
            <a:srgbClr val="065A72"/>
          </a:solidFill>
          <a:ln w="12700">
            <a:solidFill>
              <a:srgbClr val="065A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160520" y="3493008"/>
            <a:ext cx="5029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4754880" y="3538728"/>
            <a:ext cx="4069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2A4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Data Logger + PC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754880" y="3785616"/>
            <a:ext cx="406908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Continuous temperature record at fixed time intervals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320040" y="4892040"/>
            <a:ext cx="850392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320040" y="4928616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27D9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Zisan Zia  •  2004153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5577840" y="4928616"/>
            <a:ext cx="32461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27D9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Dept. of Civil Engineering, BUET</a:t>
            </a:r>
            <a:endParaRPr lang="en-US" sz="800" dirty="0"/>
          </a:p>
        </p:txBody>
      </p:sp>
      <p:sp>
        <p:nvSpPr>
          <p:cNvPr id="28" name="Text Box 27"/>
          <p:cNvSpPr txBox="1"/>
          <p:nvPr/>
        </p:nvSpPr>
        <p:spPr>
          <a:xfrm>
            <a:off x="8289925" y="45720"/>
            <a:ext cx="854075" cy="2247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2004153</a:t>
            </a:r>
          </a:p>
        </p:txBody>
      </p:sp>
      <p:pic>
        <p:nvPicPr>
          <p:cNvPr id="29" name="Image 2" descr="/mnt/data/thesis_docx_media/image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560" y="1508760"/>
            <a:ext cx="3843020" cy="2277110"/>
          </a:xfrm>
          <a:prstGeom prst="rect">
            <a:avLst/>
          </a:prstGeom>
        </p:spPr>
      </p:pic>
      <p:sp>
        <p:nvSpPr>
          <p:cNvPr id="30" name="Shape 10"/>
          <p:cNvSpPr/>
          <p:nvPr/>
        </p:nvSpPr>
        <p:spPr>
          <a:xfrm>
            <a:off x="1241425" y="3785870"/>
            <a:ext cx="2195830" cy="520700"/>
          </a:xfrm>
          <a:prstGeom prst="roundRect">
            <a:avLst>
              <a:gd name="adj" fmla="val 26667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11"/>
          <p:cNvSpPr/>
          <p:nvPr/>
        </p:nvSpPr>
        <p:spPr>
          <a:xfrm>
            <a:off x="1092200" y="3623310"/>
            <a:ext cx="2263775" cy="77025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accent6"/>
                </a:solidFill>
              </a:rPr>
              <a:t>     </a:t>
            </a:r>
            <a:r>
              <a:rPr lang="en-US" sz="1700" b="1" dirty="0">
                <a:solidFill>
                  <a:srgbClr val="FFFFFF"/>
                </a:solidFill>
              </a:rPr>
              <a:t>setup schematic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8F59C4-3D32-B199-9C57-58BEDE412C6E}"/>
              </a:ext>
            </a:extLst>
          </p:cNvPr>
          <p:cNvSpPr txBox="1"/>
          <p:nvPr/>
        </p:nvSpPr>
        <p:spPr>
          <a:xfrm>
            <a:off x="4371975" y="4844534"/>
            <a:ext cx="4000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-120"/>
              </a:rPr>
              <a:t>16</a:t>
            </a:r>
            <a:endParaRPr lang="en-US" sz="1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5A72"/>
          </a:solidFill>
          <a:ln w="12700">
            <a:solidFill>
              <a:srgbClr val="065A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1"/>
          <p:cNvSpPr/>
          <p:nvPr/>
        </p:nvSpPr>
        <p:spPr>
          <a:xfrm>
            <a:off x="365760" y="45720"/>
            <a:ext cx="78638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Calorimeter Calibration</a:t>
            </a:r>
            <a:endParaRPr lang="en-US" sz="2400" dirty="0"/>
          </a:p>
        </p:txBody>
      </p:sp>
      <p:sp>
        <p:nvSpPr>
          <p:cNvPr id="30" name="Text Box 29"/>
          <p:cNvSpPr txBox="1"/>
          <p:nvPr/>
        </p:nvSpPr>
        <p:spPr>
          <a:xfrm>
            <a:off x="8289925" y="45720"/>
            <a:ext cx="854075" cy="2247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2004153</a:t>
            </a:r>
          </a:p>
        </p:txBody>
      </p:sp>
      <p:sp>
        <p:nvSpPr>
          <p:cNvPr id="27" name="Shape 25"/>
          <p:cNvSpPr/>
          <p:nvPr/>
        </p:nvSpPr>
        <p:spPr>
          <a:xfrm>
            <a:off x="320040" y="4892040"/>
            <a:ext cx="850392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20040" y="4928616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27D9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Zisan Zia  •  2004153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577840" y="4928616"/>
            <a:ext cx="32461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27D9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Dept. of Civil Engineering, BUET</a:t>
            </a:r>
            <a:endParaRPr lang="en-US" sz="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1205" y="985520"/>
            <a:ext cx="5102225" cy="394309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3D15386-F19D-F88C-18FF-A10DD4026D44}"/>
              </a:ext>
            </a:extLst>
          </p:cNvPr>
          <p:cNvSpPr txBox="1"/>
          <p:nvPr/>
        </p:nvSpPr>
        <p:spPr>
          <a:xfrm>
            <a:off x="4371975" y="4844534"/>
            <a:ext cx="4000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-120"/>
              </a:rPr>
              <a:t>17</a:t>
            </a:r>
            <a:endParaRPr lang="en-US" sz="1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410" y="818707"/>
            <a:ext cx="7104380" cy="406909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5A72"/>
          </a:solidFill>
          <a:ln w="12700">
            <a:solidFill>
              <a:srgbClr val="065A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1"/>
          <p:cNvSpPr/>
          <p:nvPr/>
        </p:nvSpPr>
        <p:spPr>
          <a:xfrm>
            <a:off x="365760" y="45720"/>
            <a:ext cx="78638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Calorimeter Calibration</a:t>
            </a:r>
            <a:endParaRPr lang="en-US" sz="2400" dirty="0"/>
          </a:p>
        </p:txBody>
      </p:sp>
      <p:sp>
        <p:nvSpPr>
          <p:cNvPr id="30" name="Text Box 29"/>
          <p:cNvSpPr txBox="1"/>
          <p:nvPr/>
        </p:nvSpPr>
        <p:spPr>
          <a:xfrm>
            <a:off x="8289925" y="45720"/>
            <a:ext cx="854075" cy="2247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2004153</a:t>
            </a:r>
          </a:p>
        </p:txBody>
      </p:sp>
      <p:sp>
        <p:nvSpPr>
          <p:cNvPr id="4" name="Shape 22">
            <a:extLst>
              <a:ext uri="{FF2B5EF4-FFF2-40B4-BE49-F238E27FC236}">
                <a16:creationId xmlns:a16="http://schemas.microsoft.com/office/drawing/2014/main" id="{97E549F5-144C-9C80-6D95-5B58429810BB}"/>
              </a:ext>
            </a:extLst>
          </p:cNvPr>
          <p:cNvSpPr/>
          <p:nvPr/>
        </p:nvSpPr>
        <p:spPr>
          <a:xfrm>
            <a:off x="320040" y="4892040"/>
            <a:ext cx="850392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23">
            <a:extLst>
              <a:ext uri="{FF2B5EF4-FFF2-40B4-BE49-F238E27FC236}">
                <a16:creationId xmlns:a16="http://schemas.microsoft.com/office/drawing/2014/main" id="{BA8F88DA-2EA3-561B-151F-FEC3EF051516}"/>
              </a:ext>
            </a:extLst>
          </p:cNvPr>
          <p:cNvSpPr/>
          <p:nvPr/>
        </p:nvSpPr>
        <p:spPr>
          <a:xfrm>
            <a:off x="320040" y="4928616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27D9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Zisan Zia  •  2004153</a:t>
            </a:r>
            <a:endParaRPr lang="en-US" sz="800" dirty="0"/>
          </a:p>
        </p:txBody>
      </p:sp>
      <p:sp>
        <p:nvSpPr>
          <p:cNvPr id="7" name="Text 24">
            <a:extLst>
              <a:ext uri="{FF2B5EF4-FFF2-40B4-BE49-F238E27FC236}">
                <a16:creationId xmlns:a16="http://schemas.microsoft.com/office/drawing/2014/main" id="{EA61DA77-1DC8-4F7D-B3CE-7DF340FB71FB}"/>
              </a:ext>
            </a:extLst>
          </p:cNvPr>
          <p:cNvSpPr/>
          <p:nvPr/>
        </p:nvSpPr>
        <p:spPr>
          <a:xfrm>
            <a:off x="5577840" y="4928616"/>
            <a:ext cx="32461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27D9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Dept. of Civil Engineering, BUET</a:t>
            </a:r>
            <a:endParaRPr lang="en-US" sz="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91310F-30B2-A01D-CCD2-62501AA4A56E}"/>
              </a:ext>
            </a:extLst>
          </p:cNvPr>
          <p:cNvSpPr txBox="1"/>
          <p:nvPr/>
        </p:nvSpPr>
        <p:spPr>
          <a:xfrm>
            <a:off x="4371975" y="4844534"/>
            <a:ext cx="4000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-120"/>
              </a:rPr>
              <a:t>18</a:t>
            </a:r>
            <a:endParaRPr lang="en-US" sz="1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5A72"/>
          </a:solidFill>
          <a:ln w="12700">
            <a:solidFill>
              <a:srgbClr val="065A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78638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Calorimeter Calibration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2606040" cy="1371600"/>
          </a:xfrm>
          <a:prstGeom prst="rect">
            <a:avLst/>
          </a:prstGeom>
          <a:solidFill>
            <a:srgbClr val="065A72"/>
          </a:solidFill>
          <a:ln w="12700">
            <a:solidFill>
              <a:srgbClr val="065A72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051560"/>
            <a:ext cx="502920" cy="137160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1051560"/>
            <a:ext cx="50292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1115568"/>
            <a:ext cx="1920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C8EC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capacity, C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14400" y="1536192"/>
            <a:ext cx="1920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3076.9 J/K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200400" y="1051560"/>
            <a:ext cx="2606040" cy="1371600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00400" y="1051560"/>
            <a:ext cx="502920" cy="137160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00400" y="1051560"/>
            <a:ext cx="50292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794760" y="1115568"/>
            <a:ext cx="1920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C8EC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Insulator capacity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794760" y="1536192"/>
            <a:ext cx="1920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1386.6 J/K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080760" y="1051560"/>
            <a:ext cx="2606040" cy="1371600"/>
          </a:xfrm>
          <a:prstGeom prst="rect">
            <a:avLst/>
          </a:prstGeom>
          <a:solidFill>
            <a:srgbClr val="486581"/>
          </a:solidFill>
          <a:ln w="12700">
            <a:solidFill>
              <a:srgbClr val="486581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080760" y="1051560"/>
            <a:ext cx="502920" cy="137160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080760" y="1051560"/>
            <a:ext cx="50292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675120" y="1115568"/>
            <a:ext cx="1920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C8EC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Heat-loss coeff., Kᴸ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675120" y="1536192"/>
            <a:ext cx="1920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0.0356 W/K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320040" y="2606040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A4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How we calibrated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27330" y="3136392"/>
            <a:ext cx="4937760" cy="1325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/>
            </a:pPr>
            <a:r>
              <a:rPr lang="en-US" dirty="0">
                <a:solidFill>
                  <a:srgbClr val="1E3A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Electrical heating test → temperature rise → determine C</a:t>
            </a:r>
            <a:endParaRPr lang="en-US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dirty="0">
                <a:solidFill>
                  <a:srgbClr val="1E3A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Cooling test → exponential decay → extract Kᴸ from T(t) curve</a:t>
            </a:r>
            <a:endParaRPr lang="en-US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dirty="0">
                <a:solidFill>
                  <a:srgbClr val="1E3A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 and Kᴸ inserted into heat balance equation for all test runs</a:t>
            </a: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320040" y="4892040"/>
            <a:ext cx="850392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20040" y="4928616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27D9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Zisan Zia  •  2004153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577840" y="4928616"/>
            <a:ext cx="32461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27D9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Dept. of Civil Engineering, BUET</a:t>
            </a:r>
            <a:endParaRPr lang="en-US" sz="800" dirty="0"/>
          </a:p>
        </p:txBody>
      </p:sp>
      <p:sp>
        <p:nvSpPr>
          <p:cNvPr id="30" name="Text Box 29"/>
          <p:cNvSpPr txBox="1"/>
          <p:nvPr/>
        </p:nvSpPr>
        <p:spPr>
          <a:xfrm>
            <a:off x="8289925" y="45720"/>
            <a:ext cx="854075" cy="2247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2004153</a:t>
            </a:r>
          </a:p>
        </p:txBody>
      </p:sp>
      <p:sp>
        <p:nvSpPr>
          <p:cNvPr id="54" name="Shape 21"/>
          <p:cNvSpPr/>
          <p:nvPr/>
        </p:nvSpPr>
        <p:spPr>
          <a:xfrm>
            <a:off x="5303520" y="2884170"/>
            <a:ext cx="3679190" cy="1508760"/>
          </a:xfrm>
          <a:prstGeom prst="rect">
            <a:avLst/>
          </a:prstGeom>
          <a:solidFill>
            <a:srgbClr val="E6F7FA"/>
          </a:solidFill>
          <a:ln w="12700">
            <a:solidFill>
              <a:srgbClr val="1A9CB0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5" name="Text 22"/>
          <p:cNvSpPr/>
          <p:nvPr/>
        </p:nvSpPr>
        <p:spPr>
          <a:xfrm>
            <a:off x="5394960" y="2911602"/>
            <a:ext cx="32918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72"/>
                </a:solidFill>
              </a:rPr>
              <a:t>Cooling model</a:t>
            </a:r>
            <a:endParaRPr lang="en-US" sz="1600" dirty="0"/>
          </a:p>
        </p:txBody>
      </p:sp>
      <p:sp>
        <p:nvSpPr>
          <p:cNvPr id="56" name="Text 23"/>
          <p:cNvSpPr/>
          <p:nvPr/>
        </p:nvSpPr>
        <p:spPr>
          <a:xfrm>
            <a:off x="5394960" y="3204210"/>
            <a:ext cx="357314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2A4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T(t) − Tₐₘᵦ = (T₀ − Tₐₘᵦ) · e^(−Kᴸt / C)</a:t>
            </a:r>
            <a:endParaRPr lang="en-US" sz="1600" dirty="0"/>
          </a:p>
        </p:txBody>
      </p:sp>
      <p:sp>
        <p:nvSpPr>
          <p:cNvPr id="57" name="Text 24"/>
          <p:cNvSpPr/>
          <p:nvPr/>
        </p:nvSpPr>
        <p:spPr>
          <a:xfrm>
            <a:off x="5394960" y="3734562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65A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Uncertainty from calibration: ~±3%</a:t>
            </a:r>
            <a:endParaRPr lang="en-US" sz="16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90B1C5C-5A84-1AB0-FA5C-880677D859CD}"/>
              </a:ext>
            </a:extLst>
          </p:cNvPr>
          <p:cNvSpPr txBox="1"/>
          <p:nvPr/>
        </p:nvSpPr>
        <p:spPr>
          <a:xfrm>
            <a:off x="4371975" y="4844534"/>
            <a:ext cx="4000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-120"/>
              </a:rPr>
              <a:t>19</a:t>
            </a:r>
            <a:endParaRPr lang="en-US" sz="1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7878"/>
          </a:solidFill>
          <a:ln w="12700">
            <a:solidFill>
              <a:srgbClr val="1A7878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3" name="Text 1"/>
          <p:cNvSpPr/>
          <p:nvPr/>
        </p:nvSpPr>
        <p:spPr>
          <a:xfrm>
            <a:off x="365760" y="64008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Calculation Algorithm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A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logic from raw temperature data to heat outputs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863840" y="73152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07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2004061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01752" y="1207008"/>
            <a:ext cx="1554480" cy="265176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5240">
            <a:solidFill>
              <a:srgbClr val="1A78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01752" y="1271016"/>
            <a:ext cx="64008" cy="2523744"/>
          </a:xfrm>
          <a:prstGeom prst="rect">
            <a:avLst/>
          </a:prstGeom>
          <a:solidFill>
            <a:srgbClr val="1A7878"/>
          </a:solidFill>
          <a:ln w="12700">
            <a:solidFill>
              <a:srgbClr val="1A78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20624" y="1298448"/>
            <a:ext cx="329184" cy="329184"/>
          </a:xfrm>
          <a:prstGeom prst="ellipse">
            <a:avLst/>
          </a:prstGeom>
          <a:solidFill>
            <a:srgbClr val="1A7878"/>
          </a:solidFill>
          <a:ln w="12700">
            <a:solidFill>
              <a:srgbClr val="1A78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20624" y="12984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04672" y="1261872"/>
            <a:ext cx="9784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02336" y="1801368"/>
            <a:ext cx="1389888" cy="22860"/>
          </a:xfrm>
          <a:prstGeom prst="rect">
            <a:avLst/>
          </a:prstGeom>
          <a:solidFill>
            <a:srgbClr val="C8E8E8"/>
          </a:solidFill>
          <a:ln w="12700">
            <a:solidFill>
              <a:srgbClr val="C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02336" y="2084832"/>
            <a:ext cx="138988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1A7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→ 0, 5, 10,… min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93192" y="3401568"/>
            <a:ext cx="1399032" cy="365760"/>
          </a:xfrm>
          <a:prstGeom prst="roundRect">
            <a:avLst>
              <a:gd name="adj" fmla="val 10000"/>
            </a:avLst>
          </a:prstGeom>
          <a:solidFill>
            <a:srgbClr val="E8F5F5"/>
          </a:solidFill>
          <a:ln w="5080">
            <a:solidFill>
              <a:srgbClr val="DCF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93192" y="3401568"/>
            <a:ext cx="1399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Ts(t),   Tamb(t)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865376" y="2487168"/>
            <a:ext cx="137160" cy="91440"/>
          </a:xfrm>
          <a:prstGeom prst="rect">
            <a:avLst/>
          </a:prstGeom>
          <a:solidFill>
            <a:srgbClr val="1A7878"/>
          </a:solidFill>
          <a:ln w="12700">
            <a:solidFill>
              <a:srgbClr val="1A78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929384" y="2404872"/>
            <a:ext cx="146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7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048256" y="1207008"/>
            <a:ext cx="1554480" cy="265176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5240">
            <a:solidFill>
              <a:srgbClr val="1A78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048256" y="1271016"/>
            <a:ext cx="64008" cy="2523744"/>
          </a:xfrm>
          <a:prstGeom prst="rect">
            <a:avLst/>
          </a:prstGeom>
          <a:solidFill>
            <a:srgbClr val="1A7878"/>
          </a:solidFill>
          <a:ln w="12700">
            <a:solidFill>
              <a:srgbClr val="1A78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167128" y="1298448"/>
            <a:ext cx="329184" cy="329184"/>
          </a:xfrm>
          <a:prstGeom prst="ellipse">
            <a:avLst/>
          </a:prstGeom>
          <a:solidFill>
            <a:srgbClr val="1A7878"/>
          </a:solidFill>
          <a:ln w="12700">
            <a:solidFill>
              <a:srgbClr val="1A78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167128" y="12984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551176" y="1261872"/>
            <a:ext cx="9784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Hydration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148840" y="1801368"/>
            <a:ext cx="1389888" cy="22860"/>
          </a:xfrm>
          <a:prstGeom prst="rect">
            <a:avLst/>
          </a:prstGeom>
          <a:solidFill>
            <a:srgbClr val="C8E8E8"/>
          </a:solidFill>
          <a:ln w="12700">
            <a:solidFill>
              <a:srgbClr val="C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148840" y="2084832"/>
            <a:ext cx="138988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1A7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r(t) = Qv(t)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i="1" dirty="0">
                <a:solidFill>
                  <a:srgbClr val="1A7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Qv,max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2139696" y="3401568"/>
            <a:ext cx="1399032" cy="365760"/>
          </a:xfrm>
          <a:prstGeom prst="roundRect">
            <a:avLst>
              <a:gd name="adj" fmla="val 10000"/>
            </a:avLst>
          </a:prstGeom>
          <a:solidFill>
            <a:srgbClr val="E8F5F5"/>
          </a:solidFill>
          <a:ln w="5080">
            <a:solidFill>
              <a:srgbClr val="DCF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139696" y="3401568"/>
            <a:ext cx="1399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r(t) at each step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11880" y="2487168"/>
            <a:ext cx="137160" cy="91440"/>
          </a:xfrm>
          <a:prstGeom prst="rect">
            <a:avLst/>
          </a:prstGeom>
          <a:solidFill>
            <a:srgbClr val="1A7878"/>
          </a:solidFill>
          <a:ln w="12700">
            <a:solidFill>
              <a:srgbClr val="1A78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675888" y="2404872"/>
            <a:ext cx="146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7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794760" y="1207008"/>
            <a:ext cx="1554480" cy="265176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5240">
            <a:solidFill>
              <a:srgbClr val="1A78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794760" y="1271016"/>
            <a:ext cx="64008" cy="2523744"/>
          </a:xfrm>
          <a:prstGeom prst="rect">
            <a:avLst/>
          </a:prstGeom>
          <a:solidFill>
            <a:srgbClr val="1A7878"/>
          </a:solidFill>
          <a:ln w="12700">
            <a:solidFill>
              <a:srgbClr val="1A78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913632" y="1298448"/>
            <a:ext cx="329184" cy="329184"/>
          </a:xfrm>
          <a:prstGeom prst="ellipse">
            <a:avLst/>
          </a:prstGeom>
          <a:solidFill>
            <a:srgbClr val="1A7878"/>
          </a:solidFill>
          <a:ln w="12700">
            <a:solidFill>
              <a:srgbClr val="1A78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913632" y="12984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297680" y="1261872"/>
            <a:ext cx="9784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3895344" y="1801368"/>
            <a:ext cx="1389888" cy="22860"/>
          </a:xfrm>
          <a:prstGeom prst="rect">
            <a:avLst/>
          </a:prstGeom>
          <a:solidFill>
            <a:srgbClr val="C8E8E8"/>
          </a:solidFill>
          <a:ln w="12700">
            <a:solidFill>
              <a:srgbClr val="C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895344" y="2084832"/>
            <a:ext cx="138988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1A7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q̇ = </a:t>
            </a:r>
            <a:r>
              <a:rPr lang="en-US" sz="1600" b="1" i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</a:t>
            </a:r>
            <a:r>
              <a:rPr lang="en-US" sz="1600" b="1" i="1" dirty="0">
                <a:solidFill>
                  <a:srgbClr val="1A7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·dT/dt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i="1" dirty="0">
                <a:solidFill>
                  <a:srgbClr val="1A7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KL(Ts−Tamb)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3886200" y="3401568"/>
            <a:ext cx="1399032" cy="365760"/>
          </a:xfrm>
          <a:prstGeom prst="roundRect">
            <a:avLst>
              <a:gd name="adj" fmla="val 10000"/>
            </a:avLst>
          </a:prstGeom>
          <a:solidFill>
            <a:srgbClr val="E8F5F5"/>
          </a:solidFill>
          <a:ln w="5080">
            <a:solidFill>
              <a:srgbClr val="DCF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886200" y="3401568"/>
            <a:ext cx="1399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Total heat flow  q̇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358384" y="2487168"/>
            <a:ext cx="137160" cy="91440"/>
          </a:xfrm>
          <a:prstGeom prst="rect">
            <a:avLst/>
          </a:prstGeom>
          <a:solidFill>
            <a:srgbClr val="1A7878"/>
          </a:solidFill>
          <a:ln w="12700">
            <a:solidFill>
              <a:srgbClr val="1A78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422392" y="2404872"/>
            <a:ext cx="146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7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541264" y="1207008"/>
            <a:ext cx="1554480" cy="265176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5240">
            <a:solidFill>
              <a:srgbClr val="1A78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5541264" y="1271016"/>
            <a:ext cx="64008" cy="2523744"/>
          </a:xfrm>
          <a:prstGeom prst="rect">
            <a:avLst/>
          </a:prstGeom>
          <a:solidFill>
            <a:srgbClr val="1A7878"/>
          </a:solidFill>
          <a:ln w="12700">
            <a:solidFill>
              <a:srgbClr val="1A78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5660136" y="1298448"/>
            <a:ext cx="329184" cy="329184"/>
          </a:xfrm>
          <a:prstGeom prst="ellipse">
            <a:avLst/>
          </a:prstGeom>
          <a:solidFill>
            <a:srgbClr val="1A7878"/>
          </a:solidFill>
          <a:ln w="12700">
            <a:solidFill>
              <a:srgbClr val="1A78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660136" y="12984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6044184" y="1261872"/>
            <a:ext cx="9784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Rate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5641848" y="1801368"/>
            <a:ext cx="1389888" cy="22860"/>
          </a:xfrm>
          <a:prstGeom prst="rect">
            <a:avLst/>
          </a:prstGeom>
          <a:solidFill>
            <a:srgbClr val="C8E8E8"/>
          </a:solidFill>
          <a:ln w="12700">
            <a:solidFill>
              <a:srgbClr val="C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5641848" y="2084832"/>
            <a:ext cx="138988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1A7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qg(t) = q̇ / mc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5632704" y="3401568"/>
            <a:ext cx="1399032" cy="365760"/>
          </a:xfrm>
          <a:prstGeom prst="roundRect">
            <a:avLst>
              <a:gd name="adj" fmla="val 10000"/>
            </a:avLst>
          </a:prstGeom>
          <a:solidFill>
            <a:srgbClr val="E8F5F5"/>
          </a:solidFill>
          <a:ln w="5080">
            <a:solidFill>
              <a:srgbClr val="DCF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5632704" y="3401568"/>
            <a:ext cx="1399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Specific rate  qg(t)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104888" y="2487168"/>
            <a:ext cx="137160" cy="91440"/>
          </a:xfrm>
          <a:prstGeom prst="rect">
            <a:avLst/>
          </a:prstGeom>
          <a:solidFill>
            <a:srgbClr val="1A7878"/>
          </a:solidFill>
          <a:ln w="12700">
            <a:solidFill>
              <a:srgbClr val="1A78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7168896" y="2404872"/>
            <a:ext cx="146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7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7287768" y="1207008"/>
            <a:ext cx="1554480" cy="265176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5240">
            <a:solidFill>
              <a:srgbClr val="1A78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7287768" y="1271016"/>
            <a:ext cx="64008" cy="2523744"/>
          </a:xfrm>
          <a:prstGeom prst="rect">
            <a:avLst/>
          </a:prstGeom>
          <a:solidFill>
            <a:srgbClr val="1A7878"/>
          </a:solidFill>
          <a:ln w="12700">
            <a:solidFill>
              <a:srgbClr val="1A78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7406640" y="1298448"/>
            <a:ext cx="329184" cy="329184"/>
          </a:xfrm>
          <a:prstGeom prst="ellipse">
            <a:avLst/>
          </a:prstGeom>
          <a:solidFill>
            <a:srgbClr val="1A7878"/>
          </a:solidFill>
          <a:ln w="12700">
            <a:solidFill>
              <a:srgbClr val="1A78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7406640" y="12984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7790688" y="1261872"/>
            <a:ext cx="9784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Fit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7388352" y="1801368"/>
            <a:ext cx="1389888" cy="22860"/>
          </a:xfrm>
          <a:prstGeom prst="rect">
            <a:avLst/>
          </a:prstGeom>
          <a:solidFill>
            <a:srgbClr val="C8E8E8"/>
          </a:solidFill>
          <a:ln w="12700">
            <a:solidFill>
              <a:srgbClr val="C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7388352" y="2084832"/>
            <a:ext cx="138988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1A7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Q(t) = ∫ qg(t)·dt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7379208" y="3401568"/>
            <a:ext cx="1399032" cy="365760"/>
          </a:xfrm>
          <a:prstGeom prst="roundRect">
            <a:avLst>
              <a:gd name="adj" fmla="val 10000"/>
            </a:avLst>
          </a:prstGeom>
          <a:solidFill>
            <a:srgbClr val="E8F5F5"/>
          </a:solidFill>
          <a:ln w="5080">
            <a:solidFill>
              <a:srgbClr val="DCF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7379208" y="3401568"/>
            <a:ext cx="1399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Cumulative heat  Q(t)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301752" y="4206240"/>
            <a:ext cx="8540496" cy="274320"/>
          </a:xfrm>
          <a:prstGeom prst="roundRect">
            <a:avLst>
              <a:gd name="adj" fmla="val 16667"/>
            </a:avLst>
          </a:prstGeom>
          <a:solidFill>
            <a:srgbClr val="145F5F"/>
          </a:solidFill>
          <a:ln w="12700">
            <a:solidFill>
              <a:srgbClr val="145F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301752" y="4206240"/>
            <a:ext cx="8540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convert T(t) measurements into qᵍ(t), Q(t), peak heat rate, and Gaussian fitting Curves for thermal simulation</a:t>
            </a:r>
            <a:endParaRPr lang="en-US" sz="1400" dirty="0"/>
          </a:p>
        </p:txBody>
      </p:sp>
      <p:sp>
        <p:nvSpPr>
          <p:cNvPr id="67" name="Shape 65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A7878"/>
          </a:solidFill>
          <a:ln w="12700">
            <a:solidFill>
              <a:srgbClr val="1A78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274320" y="4864608"/>
            <a:ext cx="384048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Abdur Nur Tushar  •  2004061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4114800" y="4864608"/>
            <a:ext cx="9144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07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5029200" y="4864608"/>
            <a:ext cx="379476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Civil Engineering, BUET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15568"/>
          </a:xfrm>
          <a:prstGeom prst="rect">
            <a:avLst/>
          </a:prstGeom>
          <a:solidFill>
            <a:schemeClr val="tx2"/>
          </a:solidFill>
          <a:ln w="12700">
            <a:solidFill>
              <a:srgbClr val="1A78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Specific Heat of Hardening Cement Paste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365760" y="722376"/>
            <a:ext cx="8046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A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heat decreases linearly as hydration advances  —  De Schutter &amp; Taerwe (1995)</a:t>
            </a:r>
            <a:endParaRPr lang="en-US" sz="12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234440"/>
            <a:ext cx="5394960" cy="34015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43600" y="1289304"/>
            <a:ext cx="2971800" cy="1417320"/>
          </a:xfrm>
          <a:prstGeom prst="roundRect">
            <a:avLst>
              <a:gd name="adj" fmla="val 5161"/>
            </a:avLst>
          </a:prstGeom>
          <a:solidFill>
            <a:schemeClr val="tx2"/>
          </a:solidFill>
          <a:ln w="12700">
            <a:solidFill>
              <a:srgbClr val="1A78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897880" y="1316736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Formula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897880" y="1609344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r>
              <a:rPr lang="en-US" sz="1100" b="1" baseline="-2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r>
              <a:rPr lang="en-US" sz="17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(r)  </a:t>
            </a: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 1160.67 × (1.5 − 0.5·r)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5897880" y="2066544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A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 / kg · K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897880" y="235915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Adapted for CEM II A-M 42.5 R, w/c = 0.40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943600" y="2889504"/>
            <a:ext cx="91440" cy="91440"/>
          </a:xfrm>
          <a:prstGeom prst="ellipse">
            <a:avLst/>
          </a:prstGeom>
          <a:solidFill>
            <a:srgbClr val="1A7878"/>
          </a:solidFill>
          <a:ln w="12700">
            <a:solidFill>
              <a:srgbClr val="1A78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080760" y="2798064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degree of hydration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080760" y="3026664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 = fresh paste → 1 = fully hydrated)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943600" y="3438144"/>
            <a:ext cx="91440" cy="91440"/>
          </a:xfrm>
          <a:prstGeom prst="ellipse">
            <a:avLst/>
          </a:prstGeom>
          <a:solidFill>
            <a:srgbClr val="1A7878"/>
          </a:solidFill>
          <a:ln w="12700">
            <a:solidFill>
              <a:srgbClr val="1A78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080760" y="3346704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Cₚ falls from ~1754 → ~1300 J/kg·K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080760" y="3575304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denser C-S-H gel replaces water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242668" y="4607169"/>
            <a:ext cx="8595360" cy="20116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 Schutter and </a:t>
            </a:r>
            <a:r>
              <a:rPr lang="en-US" sz="1200" kern="0" dirty="0" err="1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Taerwe</a:t>
            </a:r>
            <a:r>
              <a:rPr lang="en-US" sz="1200" kern="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(1995) established a relationship between the specific heat of cement paste and the degree of hydration</a:t>
            </a:r>
            <a:endParaRPr lang="en-US" sz="1100" dirty="0">
              <a:solidFill>
                <a:srgbClr val="002060"/>
              </a:solidFill>
            </a:endParaRPr>
          </a:p>
        </p:txBody>
      </p:sp>
      <p:sp>
        <p:nvSpPr>
          <p:cNvPr id="24" name="Text 21"/>
          <p:cNvSpPr/>
          <p:nvPr/>
        </p:nvSpPr>
        <p:spPr>
          <a:xfrm>
            <a:off x="242668" y="4864608"/>
            <a:ext cx="45720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Abdur Nur Tushar  •  2004061</a:t>
            </a:r>
            <a:endParaRPr lang="en-US" sz="1000" dirty="0">
              <a:solidFill>
                <a:srgbClr val="002060"/>
              </a:solidFill>
            </a:endParaRPr>
          </a:p>
        </p:txBody>
      </p:sp>
      <p:sp>
        <p:nvSpPr>
          <p:cNvPr id="25" name="Text 22"/>
          <p:cNvSpPr/>
          <p:nvPr/>
        </p:nvSpPr>
        <p:spPr>
          <a:xfrm>
            <a:off x="4572000" y="4864608"/>
            <a:ext cx="425196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Civil Engineering, BUET</a:t>
            </a:r>
            <a:endParaRPr lang="en-US" sz="1000" dirty="0">
              <a:solidFill>
                <a:srgbClr val="00206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9645DE-42D5-10AF-623B-ED611E646FCD}"/>
              </a:ext>
            </a:extLst>
          </p:cNvPr>
          <p:cNvSpPr txBox="1"/>
          <p:nvPr/>
        </p:nvSpPr>
        <p:spPr>
          <a:xfrm>
            <a:off x="8229600" y="226736"/>
            <a:ext cx="45783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2004061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798704E-7C95-D638-68DE-4D3806418206}"/>
              </a:ext>
            </a:extLst>
          </p:cNvPr>
          <p:cNvSpPr txBox="1"/>
          <p:nvPr/>
        </p:nvSpPr>
        <p:spPr>
          <a:xfrm>
            <a:off x="4371975" y="4844534"/>
            <a:ext cx="4000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-120"/>
              </a:rPr>
              <a:t>21</a:t>
            </a:r>
            <a:endParaRPr lang="en-US" sz="1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chemeClr val="tx2"/>
          </a:solidFill>
          <a:ln w="12700">
            <a:solidFill>
              <a:srgbClr val="065A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Outputs and What They Mean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7607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B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 used for comparison and thermal risk assessment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0" y="65836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1091653"/>
            <a:ext cx="1325880" cy="594360"/>
          </a:xfrm>
          <a:prstGeom prst="rect">
            <a:avLst/>
          </a:prstGeom>
          <a:solidFill>
            <a:srgbClr val="065A72"/>
          </a:solidFill>
          <a:ln w="12700">
            <a:solidFill>
              <a:srgbClr val="065A72"/>
            </a:solidFill>
            <a:prstDash val="solid"/>
          </a:ln>
        </p:spPr>
        <p:txBody>
          <a:bodyPr/>
          <a:lstStyle/>
          <a:p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20040" y="1078992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r>
              <a:rPr lang="en-US" b="1" baseline="-25000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(t)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755648" y="1115568"/>
            <a:ext cx="36463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Specific Heat Generation Rate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755648" y="1411693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peak time and amplitude </a:t>
            </a:r>
            <a:r>
              <a:rPr lang="en-US" sz="1600" dirty="0">
                <a:solidFill>
                  <a:srgbClr val="1E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</a:t>
            </a:r>
            <a:r>
              <a:rPr lang="en-US" sz="1400" dirty="0">
                <a:solidFill>
                  <a:srgbClr val="1E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fast from slow cements.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0040" y="1803126"/>
            <a:ext cx="1325880" cy="594360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0040" y="178308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Q(t)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755648" y="181965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Cumulative Heat Release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755648" y="2093976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Heat larger adiabatic ΔT and greater thermal cracking risk.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20040" y="2510028"/>
            <a:ext cx="1325880" cy="5943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0040" y="2487168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Peak time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755648" y="252374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to Maximum Heat Rate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755648" y="2798064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peak means faster early reaction. 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20040" y="3191256"/>
            <a:ext cx="1325880" cy="594360"/>
          </a:xfrm>
          <a:prstGeom prst="rect">
            <a:avLst/>
          </a:prstGeom>
          <a:solidFill>
            <a:srgbClr val="486581"/>
          </a:solidFill>
          <a:ln w="12700">
            <a:solidFill>
              <a:srgbClr val="4865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0040" y="3191256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α(t)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755648" y="324893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Degree of Hydration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755648" y="350215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 (0→1). Used for VCCTL comparison and variable heat-capacity correction.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20040" y="3895344"/>
            <a:ext cx="1325880" cy="59436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20040" y="3895344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rank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755648" y="39319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Cement Selection Output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1755648" y="4224528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heat magnitude + timing → ranks cements for mass concrete use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20040" y="4892040"/>
            <a:ext cx="850392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20040" y="4928616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Abdur Nur Tushar  •  2004061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577840" y="4928616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Civil Engineering, BUET</a:t>
            </a:r>
            <a:endParaRPr lang="en-US" sz="8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4754238-A257-7333-9A52-0C0C9D776562}"/>
              </a:ext>
            </a:extLst>
          </p:cNvPr>
          <p:cNvSpPr txBox="1"/>
          <p:nvPr/>
        </p:nvSpPr>
        <p:spPr>
          <a:xfrm>
            <a:off x="8229600" y="226736"/>
            <a:ext cx="45783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2004061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9EB91DD-73C8-9A15-D6FE-5BB0C6C4A543}"/>
              </a:ext>
            </a:extLst>
          </p:cNvPr>
          <p:cNvSpPr txBox="1"/>
          <p:nvPr/>
        </p:nvSpPr>
        <p:spPr>
          <a:xfrm>
            <a:off x="4371975" y="4844534"/>
            <a:ext cx="4000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-120"/>
              </a:rPr>
              <a:t>22</a:t>
            </a:r>
            <a:endParaRPr lang="en-US" sz="1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B67A95-D8A0-2F2C-0650-A06C1854F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3EC67EC-4307-7251-2BC9-D0C5B9597416}"/>
              </a:ext>
            </a:extLst>
          </p:cNvPr>
          <p:cNvSpPr/>
          <p:nvPr/>
        </p:nvSpPr>
        <p:spPr>
          <a:xfrm>
            <a:off x="-32430" y="-73855"/>
            <a:ext cx="9176429" cy="960120"/>
          </a:xfrm>
          <a:prstGeom prst="rect">
            <a:avLst/>
          </a:prstGeom>
          <a:solidFill>
            <a:schemeClr val="tx2"/>
          </a:solidFill>
          <a:ln w="12700">
            <a:solidFill>
              <a:srgbClr val="065A7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C5328E5-E786-DF8A-750A-9947A224FA07}"/>
              </a:ext>
            </a:extLst>
          </p:cNvPr>
          <p:cNvSpPr/>
          <p:nvPr/>
        </p:nvSpPr>
        <p:spPr>
          <a:xfrm>
            <a:off x="365760" y="45720"/>
            <a:ext cx="80607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Result Detail: </a:t>
            </a: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CEM I , CEM II A-M R, CEM II A-M N, CEM II B-M N </a:t>
            </a:r>
            <a:endParaRPr lang="en-US" sz="22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F90F759B-9800-C1CD-8EF0-94BAFD5DA1D7}"/>
              </a:ext>
            </a:extLst>
          </p:cNvPr>
          <p:cNvSpPr/>
          <p:nvPr/>
        </p:nvSpPr>
        <p:spPr>
          <a:xfrm>
            <a:off x="457200" y="46634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convert T(t) data into qᵍ(t), Q(t), peak heat rate, and model-ready fitting curves for thermal simulation.</a:t>
            </a:r>
            <a:endParaRPr lang="en-US" sz="105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F5ACEF91-C638-B2A0-7B85-E5D7E9CD4B43}"/>
              </a:ext>
            </a:extLst>
          </p:cNvPr>
          <p:cNvSpPr/>
          <p:nvPr/>
        </p:nvSpPr>
        <p:spPr>
          <a:xfrm>
            <a:off x="320040" y="4892040"/>
            <a:ext cx="850392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4C7D2395-44CE-5930-7BE9-9F1F19E943C0}"/>
              </a:ext>
            </a:extLst>
          </p:cNvPr>
          <p:cNvSpPr/>
          <p:nvPr/>
        </p:nvSpPr>
        <p:spPr>
          <a:xfrm>
            <a:off x="320040" y="4928616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Abdur Nur Tushar •  2004061</a:t>
            </a:r>
            <a:endParaRPr lang="en-US" sz="8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ADC36847-7E21-6973-7D60-ACBD0D7D2124}"/>
              </a:ext>
            </a:extLst>
          </p:cNvPr>
          <p:cNvSpPr/>
          <p:nvPr/>
        </p:nvSpPr>
        <p:spPr>
          <a:xfrm>
            <a:off x="5577840" y="4928616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Civil Engineering, BUET</a:t>
            </a:r>
            <a:endParaRPr lang="en-US" sz="800" dirty="0"/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3F5DC402-C16C-31F9-61A8-C9BCE36DD22A}"/>
              </a:ext>
            </a:extLst>
          </p:cNvPr>
          <p:cNvSpPr/>
          <p:nvPr/>
        </p:nvSpPr>
        <p:spPr>
          <a:xfrm>
            <a:off x="0" y="506217"/>
            <a:ext cx="6934977" cy="380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500" dirty="0">
                <a:solidFill>
                  <a:schemeClr val="bg1"/>
                </a:solidFill>
              </a:rPr>
              <a:t>High clinker content produces the strongest and fastest hydration heat response.</a:t>
            </a:r>
          </a:p>
        </p:txBody>
      </p:sp>
      <p:pic>
        <p:nvPicPr>
          <p:cNvPr id="14" name="Image 0">
            <a:extLst>
              <a:ext uri="{FF2B5EF4-FFF2-40B4-BE49-F238E27FC236}">
                <a16:creationId xmlns:a16="http://schemas.microsoft.com/office/drawing/2014/main" id="{54765B16-AF8A-E41F-C993-8C225F899AD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32430" y="886265"/>
            <a:ext cx="9176430" cy="38503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B4218BE-B6ED-BDAB-2DAC-25761AD93CB9}"/>
              </a:ext>
            </a:extLst>
          </p:cNvPr>
          <p:cNvSpPr txBox="1"/>
          <p:nvPr/>
        </p:nvSpPr>
        <p:spPr>
          <a:xfrm>
            <a:off x="8359140" y="132694"/>
            <a:ext cx="45783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2004061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A85643-5942-88CA-679F-97516793EA0F}"/>
              </a:ext>
            </a:extLst>
          </p:cNvPr>
          <p:cNvSpPr txBox="1"/>
          <p:nvPr/>
        </p:nvSpPr>
        <p:spPr>
          <a:xfrm>
            <a:off x="4371975" y="4844534"/>
            <a:ext cx="4000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-120"/>
              </a:rPr>
              <a:t>23</a:t>
            </a:r>
            <a:endParaRPr lang="en-US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25824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D6ECCF-D01D-9AC0-167E-DFF22381E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FA96D94-2C68-71FE-A32B-3F9FB3B6572D}"/>
              </a:ext>
            </a:extLst>
          </p:cNvPr>
          <p:cNvSpPr/>
          <p:nvPr/>
        </p:nvSpPr>
        <p:spPr>
          <a:xfrm>
            <a:off x="-32430" y="-73855"/>
            <a:ext cx="9176429" cy="960120"/>
          </a:xfrm>
          <a:prstGeom prst="rect">
            <a:avLst/>
          </a:prstGeom>
          <a:solidFill>
            <a:schemeClr val="tx2"/>
          </a:solidFill>
          <a:ln w="12700">
            <a:solidFill>
              <a:srgbClr val="065A7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E87F9B7-1D4F-2A22-9A05-FFB86EE67E75}"/>
              </a:ext>
            </a:extLst>
          </p:cNvPr>
          <p:cNvSpPr/>
          <p:nvPr/>
        </p:nvSpPr>
        <p:spPr>
          <a:xfrm>
            <a:off x="365760" y="45720"/>
            <a:ext cx="80607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Result Detail: </a:t>
            </a: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CEM I , CEM II A-M R, CEM II A-M N, CEM II B-M N </a:t>
            </a:r>
            <a:endParaRPr lang="en-US" sz="22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BFFCFF7C-B630-EE99-4821-AAC08EF2046F}"/>
              </a:ext>
            </a:extLst>
          </p:cNvPr>
          <p:cNvSpPr/>
          <p:nvPr/>
        </p:nvSpPr>
        <p:spPr>
          <a:xfrm>
            <a:off x="457200" y="46634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convert T(t) data into qᵍ(t), Q(t), peak heat rate, and model-ready fitting curves for thermal simulation.</a:t>
            </a:r>
            <a:endParaRPr lang="en-US" sz="105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0E02BFBB-5892-D6E8-75B3-5EBCB9AB1F43}"/>
              </a:ext>
            </a:extLst>
          </p:cNvPr>
          <p:cNvSpPr/>
          <p:nvPr/>
        </p:nvSpPr>
        <p:spPr>
          <a:xfrm>
            <a:off x="320040" y="4892040"/>
            <a:ext cx="850392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9947EBF8-3A03-782E-4BC7-2CAD4A5E0CB4}"/>
              </a:ext>
            </a:extLst>
          </p:cNvPr>
          <p:cNvSpPr/>
          <p:nvPr/>
        </p:nvSpPr>
        <p:spPr>
          <a:xfrm>
            <a:off x="320040" y="4928616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Abdur Nur Tushar •  2004061</a:t>
            </a:r>
            <a:endParaRPr lang="en-US" sz="8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2F6D233B-F4B4-EDCF-6410-159C0929D6CF}"/>
              </a:ext>
            </a:extLst>
          </p:cNvPr>
          <p:cNvSpPr/>
          <p:nvPr/>
        </p:nvSpPr>
        <p:spPr>
          <a:xfrm>
            <a:off x="5577840" y="4928616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Civil Engineering, BUET</a:t>
            </a:r>
            <a:endParaRPr lang="en-US" sz="800" dirty="0"/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EF2103DA-33FA-107C-288C-4AAD292ACDB9}"/>
              </a:ext>
            </a:extLst>
          </p:cNvPr>
          <p:cNvSpPr/>
          <p:nvPr/>
        </p:nvSpPr>
        <p:spPr>
          <a:xfrm>
            <a:off x="0" y="506217"/>
            <a:ext cx="6934977" cy="380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500" dirty="0">
                <a:solidFill>
                  <a:schemeClr val="bg1"/>
                </a:solidFill>
              </a:rPr>
              <a:t>High clinker content produces the strongest and fastest hydration heat response.</a:t>
            </a:r>
          </a:p>
        </p:txBody>
      </p:sp>
      <p:pic>
        <p:nvPicPr>
          <p:cNvPr id="14" name="Image 0">
            <a:extLst>
              <a:ext uri="{FF2B5EF4-FFF2-40B4-BE49-F238E27FC236}">
                <a16:creationId xmlns:a16="http://schemas.microsoft.com/office/drawing/2014/main" id="{20088B28-D158-8B18-48D0-74AD26C8773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786" y="922840"/>
            <a:ext cx="9084214" cy="4033208"/>
          </a:xfrm>
          <a:prstGeom prst="rect">
            <a:avLst/>
          </a:prstGeom>
        </p:spPr>
      </p:pic>
      <p:sp>
        <p:nvSpPr>
          <p:cNvPr id="67" name="Text 15">
            <a:extLst>
              <a:ext uri="{FF2B5EF4-FFF2-40B4-BE49-F238E27FC236}">
                <a16:creationId xmlns:a16="http://schemas.microsoft.com/office/drawing/2014/main" id="{CE92E8B1-8E66-9B94-5EA8-AE4A70B15453}"/>
              </a:ext>
            </a:extLst>
          </p:cNvPr>
          <p:cNvSpPr/>
          <p:nvPr/>
        </p:nvSpPr>
        <p:spPr>
          <a:xfrm>
            <a:off x="7964424" y="3520440"/>
            <a:ext cx="1124712" cy="9144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Peak width</a:t>
            </a:r>
          </a:p>
        </p:txBody>
      </p:sp>
      <p:sp>
        <p:nvSpPr>
          <p:cNvPr id="73" name="Text 18">
            <a:extLst>
              <a:ext uri="{FF2B5EF4-FFF2-40B4-BE49-F238E27FC236}">
                <a16:creationId xmlns:a16="http://schemas.microsoft.com/office/drawing/2014/main" id="{D147D3E4-9CE0-91EF-7FA9-DB3BC3226E14}"/>
              </a:ext>
            </a:extLst>
          </p:cNvPr>
          <p:cNvSpPr/>
          <p:nvPr/>
        </p:nvSpPr>
        <p:spPr>
          <a:xfrm>
            <a:off x="7964424" y="4206240"/>
            <a:ext cx="1124712" cy="9144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Tail behavior</a:t>
            </a:r>
          </a:p>
        </p:txBody>
      </p:sp>
      <p:sp>
        <p:nvSpPr>
          <p:cNvPr id="78" name="Text 9">
            <a:extLst>
              <a:ext uri="{FF2B5EF4-FFF2-40B4-BE49-F238E27FC236}">
                <a16:creationId xmlns:a16="http://schemas.microsoft.com/office/drawing/2014/main" id="{10BC8671-91CA-DC06-A077-A0B1F9BF04E5}"/>
              </a:ext>
            </a:extLst>
          </p:cNvPr>
          <p:cNvSpPr/>
          <p:nvPr/>
        </p:nvSpPr>
        <p:spPr>
          <a:xfrm>
            <a:off x="5586984" y="1956332"/>
            <a:ext cx="1124712" cy="9144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Peak height</a:t>
            </a:r>
          </a:p>
        </p:txBody>
      </p:sp>
      <p:sp>
        <p:nvSpPr>
          <p:cNvPr id="81" name="Text 12">
            <a:extLst>
              <a:ext uri="{FF2B5EF4-FFF2-40B4-BE49-F238E27FC236}">
                <a16:creationId xmlns:a16="http://schemas.microsoft.com/office/drawing/2014/main" id="{B5A4ABD2-EA2B-6132-AB38-2B3AC6C9F269}"/>
              </a:ext>
            </a:extLst>
          </p:cNvPr>
          <p:cNvSpPr/>
          <p:nvPr/>
        </p:nvSpPr>
        <p:spPr>
          <a:xfrm>
            <a:off x="5586984" y="2642132"/>
            <a:ext cx="1124712" cy="9144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Peak time</a:t>
            </a:r>
          </a:p>
        </p:txBody>
      </p:sp>
      <p:sp>
        <p:nvSpPr>
          <p:cNvPr id="84" name="Text 15">
            <a:extLst>
              <a:ext uri="{FF2B5EF4-FFF2-40B4-BE49-F238E27FC236}">
                <a16:creationId xmlns:a16="http://schemas.microsoft.com/office/drawing/2014/main" id="{356C0AD6-5C1D-50AD-193A-0E2FFA34F71A}"/>
              </a:ext>
            </a:extLst>
          </p:cNvPr>
          <p:cNvSpPr/>
          <p:nvPr/>
        </p:nvSpPr>
        <p:spPr>
          <a:xfrm>
            <a:off x="5586984" y="3327932"/>
            <a:ext cx="1124712" cy="9144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Peak width</a:t>
            </a:r>
          </a:p>
        </p:txBody>
      </p:sp>
      <p:sp>
        <p:nvSpPr>
          <p:cNvPr id="87" name="Text 18">
            <a:extLst>
              <a:ext uri="{FF2B5EF4-FFF2-40B4-BE49-F238E27FC236}">
                <a16:creationId xmlns:a16="http://schemas.microsoft.com/office/drawing/2014/main" id="{39382CFD-22C3-F5E6-4718-63C4132286AA}"/>
              </a:ext>
            </a:extLst>
          </p:cNvPr>
          <p:cNvSpPr/>
          <p:nvPr/>
        </p:nvSpPr>
        <p:spPr>
          <a:xfrm>
            <a:off x="5586984" y="4013732"/>
            <a:ext cx="1124712" cy="9144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Tail behavior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383A17-FFC4-264B-571D-25BFE462A39B}"/>
              </a:ext>
            </a:extLst>
          </p:cNvPr>
          <p:cNvSpPr txBox="1"/>
          <p:nvPr/>
        </p:nvSpPr>
        <p:spPr>
          <a:xfrm>
            <a:off x="8388448" y="110583"/>
            <a:ext cx="45783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2004061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E83C27-B7D8-9A31-3436-A915154B56D0}"/>
              </a:ext>
            </a:extLst>
          </p:cNvPr>
          <p:cNvSpPr txBox="1"/>
          <p:nvPr/>
        </p:nvSpPr>
        <p:spPr>
          <a:xfrm>
            <a:off x="4371975" y="4844534"/>
            <a:ext cx="4000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-120"/>
              </a:rPr>
              <a:t>24</a:t>
            </a:r>
            <a:endParaRPr lang="en-US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01241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D446F7-0741-1B3C-8702-C5D4973AB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90611C3-F902-87C9-6524-178D69EE0D27}"/>
              </a:ext>
            </a:extLst>
          </p:cNvPr>
          <p:cNvSpPr/>
          <p:nvPr/>
        </p:nvSpPr>
        <p:spPr>
          <a:xfrm>
            <a:off x="-32430" y="-73855"/>
            <a:ext cx="9176429" cy="960120"/>
          </a:xfrm>
          <a:prstGeom prst="rect">
            <a:avLst/>
          </a:prstGeom>
          <a:solidFill>
            <a:schemeClr val="tx2"/>
          </a:solidFill>
          <a:ln w="12700">
            <a:solidFill>
              <a:srgbClr val="065A7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930F892-2D24-9E8D-06E8-19AB5A7C727F}"/>
              </a:ext>
            </a:extLst>
          </p:cNvPr>
          <p:cNvSpPr/>
          <p:nvPr/>
        </p:nvSpPr>
        <p:spPr>
          <a:xfrm>
            <a:off x="365760" y="45720"/>
            <a:ext cx="80607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Result Detail: </a:t>
            </a: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CEM I , CEM II A-M R, CEM II A-M N, CEM II B-M N </a:t>
            </a:r>
            <a:endParaRPr lang="en-US" sz="22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24BD96BC-115B-FAED-D704-3BB598602749}"/>
              </a:ext>
            </a:extLst>
          </p:cNvPr>
          <p:cNvSpPr/>
          <p:nvPr/>
        </p:nvSpPr>
        <p:spPr>
          <a:xfrm>
            <a:off x="457200" y="46634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convert T(t) data into qᵍ(t), Q(t), peak heat rate, and model-ready fitting curves for thermal simulation.</a:t>
            </a:r>
            <a:endParaRPr lang="en-US" sz="105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D9133947-5909-8CA3-BEFD-B92098E32A50}"/>
              </a:ext>
            </a:extLst>
          </p:cNvPr>
          <p:cNvSpPr/>
          <p:nvPr/>
        </p:nvSpPr>
        <p:spPr>
          <a:xfrm>
            <a:off x="320040" y="4892040"/>
            <a:ext cx="850392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2959A16D-A640-5951-68B7-A07145AE3EF4}"/>
              </a:ext>
            </a:extLst>
          </p:cNvPr>
          <p:cNvSpPr/>
          <p:nvPr/>
        </p:nvSpPr>
        <p:spPr>
          <a:xfrm>
            <a:off x="320040" y="4928616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Abdur Nur Tushar •  2004061</a:t>
            </a:r>
            <a:endParaRPr lang="en-US" sz="8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5A671A28-7823-63DD-1D45-BE809F052C92}"/>
              </a:ext>
            </a:extLst>
          </p:cNvPr>
          <p:cNvSpPr/>
          <p:nvPr/>
        </p:nvSpPr>
        <p:spPr>
          <a:xfrm>
            <a:off x="5577840" y="4928616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Civil Engineering, BUET</a:t>
            </a:r>
            <a:endParaRPr lang="en-US" sz="800" dirty="0"/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EBD11A2F-42C1-C274-AFB5-0C4C5A974FD4}"/>
              </a:ext>
            </a:extLst>
          </p:cNvPr>
          <p:cNvSpPr/>
          <p:nvPr/>
        </p:nvSpPr>
        <p:spPr>
          <a:xfrm>
            <a:off x="0" y="506217"/>
            <a:ext cx="6934977" cy="380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500" dirty="0">
                <a:solidFill>
                  <a:schemeClr val="bg1"/>
                </a:solidFill>
              </a:rPr>
              <a:t>High clinker content produces the strongest and fastest hydration heat response.</a:t>
            </a:r>
          </a:p>
        </p:txBody>
      </p:sp>
      <p:pic>
        <p:nvPicPr>
          <p:cNvPr id="14" name="Image 0">
            <a:extLst>
              <a:ext uri="{FF2B5EF4-FFF2-40B4-BE49-F238E27FC236}">
                <a16:creationId xmlns:a16="http://schemas.microsoft.com/office/drawing/2014/main" id="{C3384E21-D48F-4581-1992-0D8C7CAF528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886968"/>
            <a:ext cx="9144000" cy="404164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668BDF5-409A-49E6-9648-8C9EBFB8F04A}"/>
              </a:ext>
            </a:extLst>
          </p:cNvPr>
          <p:cNvSpPr txBox="1"/>
          <p:nvPr/>
        </p:nvSpPr>
        <p:spPr>
          <a:xfrm>
            <a:off x="8366760" y="138052"/>
            <a:ext cx="45783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2004061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FFBAE8-839F-1618-7EA7-7B322DFB8B55}"/>
              </a:ext>
            </a:extLst>
          </p:cNvPr>
          <p:cNvSpPr txBox="1"/>
          <p:nvPr/>
        </p:nvSpPr>
        <p:spPr>
          <a:xfrm>
            <a:off x="4371975" y="4844534"/>
            <a:ext cx="4000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-120"/>
              </a:rPr>
              <a:t>25</a:t>
            </a:r>
            <a:endParaRPr lang="en-US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56409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C50C89-5E3E-A4D6-6D37-98569B31C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594FAED-AAF8-D0D4-5027-7E8B7E86D7A4}"/>
              </a:ext>
            </a:extLst>
          </p:cNvPr>
          <p:cNvSpPr/>
          <p:nvPr/>
        </p:nvSpPr>
        <p:spPr>
          <a:xfrm>
            <a:off x="-32429" y="-73855"/>
            <a:ext cx="9144000" cy="960120"/>
          </a:xfrm>
          <a:prstGeom prst="rect">
            <a:avLst/>
          </a:prstGeom>
          <a:solidFill>
            <a:schemeClr val="tx2"/>
          </a:solidFill>
          <a:ln w="12700">
            <a:solidFill>
              <a:srgbClr val="065A7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6557C25-E306-0C79-819F-F0126357BDE7}"/>
              </a:ext>
            </a:extLst>
          </p:cNvPr>
          <p:cNvSpPr/>
          <p:nvPr/>
        </p:nvSpPr>
        <p:spPr>
          <a:xfrm>
            <a:off x="365760" y="45720"/>
            <a:ext cx="80607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Result Detail: </a:t>
            </a: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CEM I , CEM II A-M R, CEM II A-M N, CEM II B-M N </a:t>
            </a:r>
            <a:endParaRPr lang="en-US" sz="22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194A3B19-3E2A-5D15-5F64-08E4689E3EBE}"/>
              </a:ext>
            </a:extLst>
          </p:cNvPr>
          <p:cNvSpPr/>
          <p:nvPr/>
        </p:nvSpPr>
        <p:spPr>
          <a:xfrm>
            <a:off x="457200" y="46634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convert T(t) data into qᵍ(t), Q(t), peak heat rate, and model-ready fitting curves for thermal simulation.</a:t>
            </a:r>
            <a:endParaRPr lang="en-US" sz="105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6728EC35-451B-D016-259B-F208467FC19A}"/>
              </a:ext>
            </a:extLst>
          </p:cNvPr>
          <p:cNvSpPr/>
          <p:nvPr/>
        </p:nvSpPr>
        <p:spPr>
          <a:xfrm>
            <a:off x="320040" y="4892040"/>
            <a:ext cx="850392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A75E8B61-A33F-8F6F-A601-B60ED0493B1E}"/>
              </a:ext>
            </a:extLst>
          </p:cNvPr>
          <p:cNvSpPr/>
          <p:nvPr/>
        </p:nvSpPr>
        <p:spPr>
          <a:xfrm>
            <a:off x="320040" y="4928616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Abdur Nur Tushar •  2004061</a:t>
            </a:r>
            <a:endParaRPr lang="en-US" sz="8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1176EF86-C388-9145-E586-B1BAC704D376}"/>
              </a:ext>
            </a:extLst>
          </p:cNvPr>
          <p:cNvSpPr/>
          <p:nvPr/>
        </p:nvSpPr>
        <p:spPr>
          <a:xfrm>
            <a:off x="5577840" y="4928616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Civil Engineering, BUET</a:t>
            </a:r>
            <a:endParaRPr lang="en-US" sz="800" dirty="0"/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1FF59679-1045-632E-4984-C37BB40886FF}"/>
              </a:ext>
            </a:extLst>
          </p:cNvPr>
          <p:cNvSpPr/>
          <p:nvPr/>
        </p:nvSpPr>
        <p:spPr>
          <a:xfrm>
            <a:off x="0" y="506217"/>
            <a:ext cx="6934977" cy="380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500" dirty="0">
                <a:solidFill>
                  <a:schemeClr val="bg1"/>
                </a:solidFill>
              </a:rPr>
              <a:t>High clinker content produces the strongest and fastest hydration heat response.</a:t>
            </a:r>
          </a:p>
        </p:txBody>
      </p:sp>
      <p:graphicFrame>
        <p:nvGraphicFramePr>
          <p:cNvPr id="6" name="Chart 0">
            <a:extLst>
              <a:ext uri="{FF2B5EF4-FFF2-40B4-BE49-F238E27FC236}">
                <a16:creationId xmlns:a16="http://schemas.microsoft.com/office/drawing/2014/main" id="{5887F2C4-2F81-44B2-7AEB-61931E14DB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342115"/>
              </p:ext>
            </p:extLst>
          </p:nvPr>
        </p:nvGraphicFramePr>
        <p:xfrm>
          <a:off x="914400" y="1499616"/>
          <a:ext cx="677418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Text 7">
            <a:extLst>
              <a:ext uri="{FF2B5EF4-FFF2-40B4-BE49-F238E27FC236}">
                <a16:creationId xmlns:a16="http://schemas.microsoft.com/office/drawing/2014/main" id="{C24F51B1-486F-F026-1D8D-CCAB1363393A}"/>
              </a:ext>
            </a:extLst>
          </p:cNvPr>
          <p:cNvSpPr/>
          <p:nvPr/>
        </p:nvSpPr>
        <p:spPr>
          <a:xfrm>
            <a:off x="2468880" y="4581144"/>
            <a:ext cx="420624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4155"/>
                </a:solidFill>
              </a:rPr>
              <a:t>Approximate final cumulative heat release</a:t>
            </a:r>
            <a:endParaRPr lang="en-US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6CF255-4BC2-20AA-1FE4-2E268C946230}"/>
              </a:ext>
            </a:extLst>
          </p:cNvPr>
          <p:cNvSpPr txBox="1"/>
          <p:nvPr/>
        </p:nvSpPr>
        <p:spPr>
          <a:xfrm>
            <a:off x="8351520" y="72847"/>
            <a:ext cx="45783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2004061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0687BF-D4CF-826A-738B-BDF702DC2472}"/>
              </a:ext>
            </a:extLst>
          </p:cNvPr>
          <p:cNvSpPr txBox="1"/>
          <p:nvPr/>
        </p:nvSpPr>
        <p:spPr>
          <a:xfrm>
            <a:off x="4371975" y="4844534"/>
            <a:ext cx="4000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-120"/>
              </a:rPr>
              <a:t>26</a:t>
            </a:r>
            <a:endParaRPr lang="en-US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78471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00684"/>
          </a:xfrm>
          <a:prstGeom prst="rect">
            <a:avLst/>
          </a:prstGeom>
          <a:solidFill>
            <a:schemeClr val="tx2"/>
          </a:solidFill>
          <a:ln w="12700">
            <a:solidFill>
              <a:srgbClr val="065A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Results: Cumulative Heat Release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7607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B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Q at end of monitoring period — experimental vs. Gaussian model fit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0" y="65836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617526550"/>
              </p:ext>
            </p:extLst>
          </p:nvPr>
        </p:nvGraphicFramePr>
        <p:xfrm>
          <a:off x="320040" y="1078992"/>
          <a:ext cx="54864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320040" y="46177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Heat Release (J/g)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943600" y="1078992"/>
            <a:ext cx="2880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943600" y="1078992"/>
            <a:ext cx="91440" cy="7132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126480" y="1152144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CEM I 52.5 N: ~467 J/g — highest cumulative heat. Greatest thermal cracking risk (ΔT &gt; 40°C adiabatic).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943600" y="1920240"/>
            <a:ext cx="2880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943600" y="1920240"/>
            <a:ext cx="91440" cy="713232"/>
          </a:xfrm>
          <a:prstGeom prst="rect">
            <a:avLst/>
          </a:prstGeom>
          <a:solidFill>
            <a:srgbClr val="B94B00"/>
          </a:solidFill>
          <a:ln w="12700">
            <a:solidFill>
              <a:srgbClr val="B94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126480" y="1993392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CEM II A-M 42.5 R: ~433 J/g — almost as high as Portland, driven by finer grinding and higher surface area.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943600" y="2761488"/>
            <a:ext cx="2880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5943600" y="2761488"/>
            <a:ext cx="91440" cy="713232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126480" y="283464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CEM II A-M 42.5 N: ~284 J/g — intermediate; mineral additions dilute clinker and slow hydration.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943600" y="3602736"/>
            <a:ext cx="2880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5943600" y="3602736"/>
            <a:ext cx="91440" cy="713232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126480" y="367588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CEM II B-M 42.5 N: ~255 J/g — lowest heat. Best choice for thermally sensitive mass concrete.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320040" y="4892040"/>
            <a:ext cx="850392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320040" y="4928616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Abdur Nur Tushar  •  2004061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5577840" y="4928616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Civil Engineering, BUET</a:t>
            </a:r>
            <a:endParaRPr lang="en-US" sz="8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EB6FDC0-0A40-9239-9ACE-8BCD6E98BB06}"/>
              </a:ext>
            </a:extLst>
          </p:cNvPr>
          <p:cNvSpPr txBox="1"/>
          <p:nvPr/>
        </p:nvSpPr>
        <p:spPr>
          <a:xfrm>
            <a:off x="8229600" y="226736"/>
            <a:ext cx="45783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2004061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233172E-7F0F-D19C-3799-ACB468287DC3}"/>
              </a:ext>
            </a:extLst>
          </p:cNvPr>
          <p:cNvSpPr txBox="1"/>
          <p:nvPr/>
        </p:nvSpPr>
        <p:spPr>
          <a:xfrm>
            <a:off x="4371975" y="4844534"/>
            <a:ext cx="4000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-120"/>
              </a:rPr>
              <a:t>27</a:t>
            </a:r>
            <a:endParaRPr lang="en-US" sz="1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" y="0"/>
            <a:ext cx="9143771" cy="5486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3" name="Shape 1"/>
          <p:cNvSpPr/>
          <p:nvPr/>
        </p:nvSpPr>
        <p:spPr>
          <a:xfrm>
            <a:off x="1" y="5088636"/>
            <a:ext cx="9143771" cy="548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4" name="Text 2"/>
          <p:cNvSpPr/>
          <p:nvPr/>
        </p:nvSpPr>
        <p:spPr>
          <a:xfrm>
            <a:off x="0" y="-1"/>
            <a:ext cx="9144000" cy="719329"/>
          </a:xfrm>
          <a:prstGeom prst="rect">
            <a:avLst/>
          </a:prstGeom>
          <a:solidFill>
            <a:schemeClr val="tx2"/>
          </a:solidFill>
        </p:spPr>
        <p:txBody>
          <a:bodyPr wrap="square" lIns="0" tIns="0" rIns="0" bIns="0" rtlCol="0" anchor="ctr">
            <a:normAutofit fontScale="97500"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VCCTL Hydration Simulation  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397764" y="548640"/>
            <a:ext cx="6000750" cy="15773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endParaRPr lang="en-US" sz="810" dirty="0"/>
          </a:p>
        </p:txBody>
      </p:sp>
      <p:sp>
        <p:nvSpPr>
          <p:cNvPr id="8" name="Shape 6"/>
          <p:cNvSpPr/>
          <p:nvPr/>
        </p:nvSpPr>
        <p:spPr>
          <a:xfrm>
            <a:off x="514350" y="781050"/>
            <a:ext cx="4183380" cy="3737610"/>
          </a:xfrm>
          <a:prstGeom prst="roundRect">
            <a:avLst>
              <a:gd name="adj" fmla="val 22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12700" dir="2700000" algn="bl" rotWithShape="0">
              <a:srgbClr val="94A3B8">
                <a:alpha val="13000"/>
              </a:srgbClr>
            </a:outerShdw>
          </a:effectLst>
        </p:spPr>
        <p:txBody>
          <a:bodyPr/>
          <a:lstStyle/>
          <a:p>
            <a:endParaRPr lang="en-US" sz="1350"/>
          </a:p>
        </p:txBody>
      </p:sp>
      <p:graphicFrame>
        <p:nvGraphicFramePr>
          <p:cNvPr id="9" name="Chart 0"/>
          <p:cNvGraphicFramePr/>
          <p:nvPr>
            <p:extLst>
              <p:ext uri="{D42A27DB-BD31-4B8C-83A1-F6EECF244321}">
                <p14:modId xmlns:p14="http://schemas.microsoft.com/office/powerpoint/2010/main" val="3604051700"/>
              </p:ext>
            </p:extLst>
          </p:nvPr>
        </p:nvGraphicFramePr>
        <p:xfrm>
          <a:off x="754380" y="1062990"/>
          <a:ext cx="3669030" cy="24345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 7"/>
          <p:cNvSpPr/>
          <p:nvPr/>
        </p:nvSpPr>
        <p:spPr>
          <a:xfrm>
            <a:off x="822960" y="3536442"/>
            <a:ext cx="4046920" cy="48691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1500" b="1" dirty="0">
                <a:solidFill>
                  <a:srgbClr val="334155"/>
                </a:solidFill>
              </a:rPr>
              <a:t>VCCTL-predicted degree of hydration at 19 h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869880" y="822960"/>
            <a:ext cx="3600450" cy="373761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12700" dir="2700000" algn="bl" rotWithShape="0">
              <a:srgbClr val="94A3B8">
                <a:alpha val="13000"/>
              </a:srgbClr>
            </a:outerShdw>
          </a:effectLst>
        </p:spPr>
        <p:txBody>
          <a:bodyPr/>
          <a:lstStyle/>
          <a:p>
            <a:endParaRPr lang="en-US" sz="1350"/>
          </a:p>
        </p:txBody>
      </p:sp>
      <p:pic>
        <p:nvPicPr>
          <p:cNvPr id="12" name="Image 0" descr="/mnt/data/thesis_docx_media/image31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5420" y="850394"/>
            <a:ext cx="3204910" cy="1774696"/>
          </a:xfrm>
          <a:prstGeom prst="rect">
            <a:avLst/>
          </a:prstGeom>
        </p:spPr>
      </p:pic>
      <p:pic>
        <p:nvPicPr>
          <p:cNvPr id="13" name="Image 1" descr="/mnt/data/thesis_docx_media/image32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66360" y="2777489"/>
            <a:ext cx="3303970" cy="190652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918454" y="4344543"/>
            <a:ext cx="1165860" cy="685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algn="ctr"/>
            <a:r>
              <a:rPr lang="en-US" sz="585" b="1" dirty="0">
                <a:solidFill>
                  <a:srgbClr val="FFFFFF"/>
                </a:solidFill>
              </a:rPr>
              <a:t>DOH comparisons</a:t>
            </a:r>
            <a:endParaRPr lang="en-US" sz="585" dirty="0"/>
          </a:p>
        </p:txBody>
      </p:sp>
      <p:sp>
        <p:nvSpPr>
          <p:cNvPr id="17" name="Text 12"/>
          <p:cNvSpPr/>
          <p:nvPr/>
        </p:nvSpPr>
        <p:spPr>
          <a:xfrm>
            <a:off x="397764" y="4889754"/>
            <a:ext cx="390906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endParaRPr lang="en-US" sz="638" dirty="0"/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62B52B2F-1CEE-1DBE-31D5-5ABA0472E05B}"/>
              </a:ext>
            </a:extLst>
          </p:cNvPr>
          <p:cNvSpPr/>
          <p:nvPr/>
        </p:nvSpPr>
        <p:spPr>
          <a:xfrm>
            <a:off x="320040" y="4928616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Abdur Nur Tushar •  2004061</a:t>
            </a:r>
            <a:endParaRPr lang="en-US" sz="800" dirty="0"/>
          </a:p>
        </p:txBody>
      </p:sp>
      <p:sp>
        <p:nvSpPr>
          <p:cNvPr id="19" name="Text 8">
            <a:extLst>
              <a:ext uri="{FF2B5EF4-FFF2-40B4-BE49-F238E27FC236}">
                <a16:creationId xmlns:a16="http://schemas.microsoft.com/office/drawing/2014/main" id="{7DC255D0-350B-1BE9-CCE9-1F27A8647B7C}"/>
              </a:ext>
            </a:extLst>
          </p:cNvPr>
          <p:cNvSpPr/>
          <p:nvPr/>
        </p:nvSpPr>
        <p:spPr>
          <a:xfrm>
            <a:off x="5577840" y="4928616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Civil Engineering, BUET</a:t>
            </a:r>
            <a:endParaRPr lang="en-US" sz="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FC91D7-E7C8-BE8A-CA45-4F65F91F2FD3}"/>
              </a:ext>
            </a:extLst>
          </p:cNvPr>
          <p:cNvSpPr txBox="1"/>
          <p:nvPr/>
        </p:nvSpPr>
        <p:spPr>
          <a:xfrm>
            <a:off x="8229600" y="226736"/>
            <a:ext cx="45783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2004061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199E7F4-39D4-5E89-C9A6-4EE474A36E8C}"/>
              </a:ext>
            </a:extLst>
          </p:cNvPr>
          <p:cNvSpPr txBox="1"/>
          <p:nvPr/>
        </p:nvSpPr>
        <p:spPr>
          <a:xfrm>
            <a:off x="4371975" y="4844534"/>
            <a:ext cx="4000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-120"/>
              </a:rPr>
              <a:t>28</a:t>
            </a:r>
            <a:endParaRPr lang="en-US" sz="1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" y="0"/>
            <a:ext cx="9143771" cy="5486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3" name="Shape 1"/>
          <p:cNvSpPr/>
          <p:nvPr/>
        </p:nvSpPr>
        <p:spPr>
          <a:xfrm>
            <a:off x="1" y="5088636"/>
            <a:ext cx="9143771" cy="548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4" name="Text 2"/>
          <p:cNvSpPr/>
          <p:nvPr/>
        </p:nvSpPr>
        <p:spPr>
          <a:xfrm>
            <a:off x="0" y="27432"/>
            <a:ext cx="9144000" cy="781812"/>
          </a:xfrm>
          <a:prstGeom prst="rect">
            <a:avLst/>
          </a:prstGeom>
          <a:solidFill>
            <a:schemeClr val="tx2"/>
          </a:solidFill>
        </p:spPr>
        <p:txBody>
          <a:bodyPr wrap="square" lIns="0" tIns="0" rIns="0" bIns="0" rtlCol="0" anchor="ctr">
            <a:normAutofit fontScale="97500"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Aptos Display" pitchFamily="34" charset="0"/>
              </a:rPr>
              <a:t>VCCTL heat release validation</a:t>
            </a:r>
          </a:p>
        </p:txBody>
      </p:sp>
      <p:sp>
        <p:nvSpPr>
          <p:cNvPr id="5" name="Text 3"/>
          <p:cNvSpPr/>
          <p:nvPr/>
        </p:nvSpPr>
        <p:spPr>
          <a:xfrm>
            <a:off x="390906" y="541782"/>
            <a:ext cx="6000750" cy="15773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endParaRPr lang="en-US" sz="810" dirty="0"/>
          </a:p>
        </p:txBody>
      </p:sp>
      <p:sp>
        <p:nvSpPr>
          <p:cNvPr id="8" name="Shape 6"/>
          <p:cNvSpPr/>
          <p:nvPr/>
        </p:nvSpPr>
        <p:spPr>
          <a:xfrm>
            <a:off x="514350" y="822960"/>
            <a:ext cx="4355710" cy="3737610"/>
          </a:xfrm>
          <a:prstGeom prst="roundRect">
            <a:avLst>
              <a:gd name="adj" fmla="val 22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12700" dir="2700000" algn="bl" rotWithShape="0">
              <a:srgbClr val="94A3B8">
                <a:alpha val="13000"/>
              </a:srgbClr>
            </a:outerShdw>
          </a:effectLst>
        </p:spPr>
        <p:txBody>
          <a:bodyPr/>
          <a:lstStyle/>
          <a:p>
            <a:endParaRPr lang="en-US" sz="1350"/>
          </a:p>
        </p:txBody>
      </p:sp>
      <p:graphicFrame>
        <p:nvGraphicFramePr>
          <p:cNvPr id="9" name="Chart 0"/>
          <p:cNvGraphicFramePr/>
          <p:nvPr>
            <p:extLst>
              <p:ext uri="{D42A27DB-BD31-4B8C-83A1-F6EECF244321}">
                <p14:modId xmlns:p14="http://schemas.microsoft.com/office/powerpoint/2010/main" val="342146425"/>
              </p:ext>
            </p:extLst>
          </p:nvPr>
        </p:nvGraphicFramePr>
        <p:xfrm>
          <a:off x="754380" y="1062990"/>
          <a:ext cx="3669030" cy="24345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 7"/>
          <p:cNvSpPr/>
          <p:nvPr/>
        </p:nvSpPr>
        <p:spPr>
          <a:xfrm>
            <a:off x="822960" y="3717036"/>
            <a:ext cx="3497580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334155"/>
                </a:solidFill>
              </a:rPr>
              <a:t>VCCTL cumulative heat release </a:t>
            </a:r>
            <a:r>
              <a:rPr lang="en-US" sz="1600" b="1" dirty="0">
                <a:solidFill>
                  <a:srgbClr val="334155"/>
                </a:solidFill>
              </a:rPr>
              <a:t>at</a:t>
            </a:r>
            <a:r>
              <a:rPr lang="en-US" sz="1400" b="1" dirty="0">
                <a:solidFill>
                  <a:srgbClr val="334155"/>
                </a:solidFill>
              </a:rPr>
              <a:t> 19 h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937760" y="822960"/>
            <a:ext cx="4079630" cy="373761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12700" dir="2700000" algn="bl" rotWithShape="0">
              <a:srgbClr val="94A3B8">
                <a:alpha val="13000"/>
              </a:srgbClr>
            </a:outerShdw>
          </a:effectLst>
        </p:spPr>
        <p:txBody>
          <a:bodyPr/>
          <a:lstStyle/>
          <a:p>
            <a:endParaRPr lang="en-US" sz="1350"/>
          </a:p>
        </p:txBody>
      </p:sp>
      <p:sp>
        <p:nvSpPr>
          <p:cNvPr id="12" name="Shape 9"/>
          <p:cNvSpPr/>
          <p:nvPr/>
        </p:nvSpPr>
        <p:spPr>
          <a:xfrm>
            <a:off x="5177790" y="1200150"/>
            <a:ext cx="857250" cy="233172"/>
          </a:xfrm>
          <a:prstGeom prst="roundRect">
            <a:avLst>
              <a:gd name="adj" fmla="val 23529"/>
            </a:avLst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3" name="Text 10"/>
          <p:cNvSpPr/>
          <p:nvPr/>
        </p:nvSpPr>
        <p:spPr>
          <a:xfrm>
            <a:off x="5218938" y="1268730"/>
            <a:ext cx="774954" cy="6858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CEM I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206490" y="1227582"/>
            <a:ext cx="1474470" cy="1234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0F172A"/>
                </a:solidFill>
              </a:rPr>
              <a:t>≈480 kJ/kg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5177790" y="1851660"/>
            <a:ext cx="857250" cy="233172"/>
          </a:xfrm>
          <a:prstGeom prst="roundRect">
            <a:avLst>
              <a:gd name="adj" fmla="val 23529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6" name="Text 13"/>
          <p:cNvSpPr/>
          <p:nvPr/>
        </p:nvSpPr>
        <p:spPr>
          <a:xfrm>
            <a:off x="5218938" y="1920240"/>
            <a:ext cx="774954" cy="6858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A-M N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206490" y="1879092"/>
            <a:ext cx="1474470" cy="1234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0F172A"/>
                </a:solidFill>
              </a:rPr>
              <a:t>≈390 kJ/kg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5177790" y="2503170"/>
            <a:ext cx="857250" cy="233172"/>
          </a:xfrm>
          <a:prstGeom prst="roundRect">
            <a:avLst>
              <a:gd name="adj" fmla="val 23529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9" name="Text 16"/>
          <p:cNvSpPr/>
          <p:nvPr/>
        </p:nvSpPr>
        <p:spPr>
          <a:xfrm>
            <a:off x="5218938" y="2571750"/>
            <a:ext cx="774954" cy="6858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B-M N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206490" y="2530602"/>
            <a:ext cx="1474470" cy="1234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0F172A"/>
                </a:solidFill>
              </a:rPr>
              <a:t>≈348 kJ/kg</a:t>
            </a:r>
            <a:endParaRPr lang="en-US" sz="2000" dirty="0"/>
          </a:p>
        </p:txBody>
      </p:sp>
      <p:sp>
        <p:nvSpPr>
          <p:cNvPr id="21" name="Shape 18"/>
          <p:cNvSpPr/>
          <p:nvPr/>
        </p:nvSpPr>
        <p:spPr>
          <a:xfrm>
            <a:off x="5177790" y="3154680"/>
            <a:ext cx="857250" cy="233172"/>
          </a:xfrm>
          <a:prstGeom prst="roundRect">
            <a:avLst>
              <a:gd name="adj" fmla="val 23529"/>
            </a:avLst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2" name="Text 19"/>
          <p:cNvSpPr/>
          <p:nvPr/>
        </p:nvSpPr>
        <p:spPr>
          <a:xfrm>
            <a:off x="5218938" y="3223260"/>
            <a:ext cx="774954" cy="6858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A-M R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6206490" y="3182112"/>
            <a:ext cx="1474470" cy="1234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0F172A"/>
                </a:solidFill>
              </a:rPr>
              <a:t>≈445 kJ/kg</a:t>
            </a:r>
            <a:endParaRPr lang="en-US" sz="2000" dirty="0"/>
          </a:p>
        </p:txBody>
      </p:sp>
      <p:sp>
        <p:nvSpPr>
          <p:cNvPr id="25" name="Shape 22"/>
          <p:cNvSpPr/>
          <p:nvPr/>
        </p:nvSpPr>
        <p:spPr>
          <a:xfrm>
            <a:off x="377190" y="4834890"/>
            <a:ext cx="8387334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26" name="Text 23"/>
          <p:cNvSpPr/>
          <p:nvPr/>
        </p:nvSpPr>
        <p:spPr>
          <a:xfrm>
            <a:off x="397764" y="4889754"/>
            <a:ext cx="390906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endParaRPr lang="en-US" sz="638" dirty="0"/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C911ECDB-3C4F-133F-C7B5-DA23AF10A15D}"/>
              </a:ext>
            </a:extLst>
          </p:cNvPr>
          <p:cNvSpPr/>
          <p:nvPr/>
        </p:nvSpPr>
        <p:spPr>
          <a:xfrm>
            <a:off x="320040" y="4928616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Abdur Nur Tushar •  2004061</a:t>
            </a:r>
            <a:endParaRPr lang="en-US" sz="800" dirty="0"/>
          </a:p>
        </p:txBody>
      </p:sp>
      <p:sp>
        <p:nvSpPr>
          <p:cNvPr id="31" name="Text 8">
            <a:extLst>
              <a:ext uri="{FF2B5EF4-FFF2-40B4-BE49-F238E27FC236}">
                <a16:creationId xmlns:a16="http://schemas.microsoft.com/office/drawing/2014/main" id="{97879D95-D279-09EE-BB3F-49A8898B8C13}"/>
              </a:ext>
            </a:extLst>
          </p:cNvPr>
          <p:cNvSpPr/>
          <p:nvPr/>
        </p:nvSpPr>
        <p:spPr>
          <a:xfrm>
            <a:off x="5577840" y="4928616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Civil Engineering, BUET</a:t>
            </a:r>
            <a:endParaRPr lang="en-US" sz="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FCF3BA-26A9-15C7-367C-AAA938BCD881}"/>
              </a:ext>
            </a:extLst>
          </p:cNvPr>
          <p:cNvSpPr txBox="1"/>
          <p:nvPr/>
        </p:nvSpPr>
        <p:spPr>
          <a:xfrm>
            <a:off x="8229600" y="226736"/>
            <a:ext cx="45783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2004061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D1D9EB2-E989-8455-C4E4-C7DB939A4D32}"/>
              </a:ext>
            </a:extLst>
          </p:cNvPr>
          <p:cNvSpPr txBox="1"/>
          <p:nvPr/>
        </p:nvSpPr>
        <p:spPr>
          <a:xfrm>
            <a:off x="4371975" y="4844534"/>
            <a:ext cx="4000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-120"/>
              </a:rPr>
              <a:t>29</a:t>
            </a:r>
            <a:endParaRPr lang="en-US" sz="1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4068"/>
            <a:ext cx="9144000" cy="960120"/>
          </a:xfrm>
          <a:prstGeom prst="rect">
            <a:avLst/>
          </a:prstGeom>
          <a:solidFill>
            <a:schemeClr val="tx2"/>
          </a:solidFill>
          <a:ln w="12700">
            <a:solidFill>
              <a:srgbClr val="065A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VCCTL Simulation and Validation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7607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B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VCCTL independently confirms the experimental heat rankings</a:t>
            </a:r>
            <a:endParaRPr lang="en-US" sz="1200" dirty="0"/>
          </a:p>
        </p:txBody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1293669696"/>
              </p:ext>
            </p:extLst>
          </p:nvPr>
        </p:nvGraphicFramePr>
        <p:xfrm>
          <a:off x="320040" y="1078992"/>
          <a:ext cx="530352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15242" y="4287012"/>
            <a:ext cx="569975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release at 19h   Experimental (J/g) vs VCCTL (kJ/kg)   same relative scale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760720" y="107899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VCCTL Degree of Hydration at 19 h (isothermal)</a:t>
            </a:r>
            <a:endParaRPr lang="en-US" sz="115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6033851"/>
              </p:ext>
            </p:extLst>
          </p:nvPr>
        </p:nvGraphicFramePr>
        <p:xfrm>
          <a:off x="5760719" y="1389888"/>
          <a:ext cx="3172265" cy="1975105"/>
        </p:xfrm>
        <a:graphic>
          <a:graphicData uri="http://schemas.openxmlformats.org/drawingml/2006/table">
            <a:tbl>
              <a:tblPr/>
              <a:tblGrid>
                <a:gridCol w="18938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8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02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DOH at 19h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02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CEM I 52.5 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0.80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02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CEM II A-M 42.5 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0.800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02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CEM II A-M 42.5 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0.950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502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CEM II B-M 42.5 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0.825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5760720" y="3493008"/>
            <a:ext cx="3063240" cy="1097280"/>
          </a:xfrm>
          <a:prstGeom prst="rect">
            <a:avLst/>
          </a:prstGeom>
          <a:solidFill>
            <a:srgbClr val="E6F7FA"/>
          </a:solidFill>
          <a:ln w="12700">
            <a:solidFill>
              <a:srgbClr val="1A9CB0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5852160" y="3538728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VCCTL systematically over-predicts composite cement heat (isothermal vs semi-adiabatic). Relative ranking is fully confirmed. Residual scatter within ±3% calibration uncertainty.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320040" y="4892040"/>
            <a:ext cx="850392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320040" y="4928616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Abdur Nur Tushar  •  2004061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5577840" y="4928616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Civil Engineering, BUET</a:t>
            </a:r>
            <a:endParaRPr lang="en-US" sz="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EE140C-6E14-8030-259A-D839B92E2AA4}"/>
              </a:ext>
            </a:extLst>
          </p:cNvPr>
          <p:cNvSpPr txBox="1"/>
          <p:nvPr/>
        </p:nvSpPr>
        <p:spPr>
          <a:xfrm>
            <a:off x="8229600" y="226736"/>
            <a:ext cx="45783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2004061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E447AC-4897-2F5A-7BCD-EB5BFA70C13C}"/>
              </a:ext>
            </a:extLst>
          </p:cNvPr>
          <p:cNvSpPr txBox="1"/>
          <p:nvPr/>
        </p:nvSpPr>
        <p:spPr>
          <a:xfrm>
            <a:off x="4371975" y="4844534"/>
            <a:ext cx="4000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-120"/>
              </a:rPr>
              <a:t>30</a:t>
            </a:r>
            <a:endParaRPr lang="en-US" sz="1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chemeClr val="tx2"/>
          </a:solidFill>
          <a:ln w="12700">
            <a:solidFill>
              <a:srgbClr val="065A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Conclusions and Practical Implications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1024128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Thermal Cracking Risk Ranking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2011680" cy="12801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1600"/>
          </a:p>
        </p:txBody>
      </p:sp>
      <p:sp>
        <p:nvSpPr>
          <p:cNvPr id="7" name="Text 5"/>
          <p:cNvSpPr/>
          <p:nvPr/>
        </p:nvSpPr>
        <p:spPr>
          <a:xfrm>
            <a:off x="320040" y="14173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CEM I 52.5 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20040" y="1874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~467 J/g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ΔT &gt; 40°C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11480" y="2359152"/>
            <a:ext cx="1828800" cy="228600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23591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HIGHEST RISK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468880" y="1371600"/>
            <a:ext cx="2011680" cy="1280160"/>
          </a:xfrm>
          <a:prstGeom prst="rect">
            <a:avLst/>
          </a:prstGeom>
          <a:solidFill>
            <a:srgbClr val="B94B00"/>
          </a:solidFill>
          <a:ln w="12700">
            <a:solidFill>
              <a:srgbClr val="B94B00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1600"/>
          </a:p>
        </p:txBody>
      </p:sp>
      <p:sp>
        <p:nvSpPr>
          <p:cNvPr id="12" name="Text 10"/>
          <p:cNvSpPr/>
          <p:nvPr/>
        </p:nvSpPr>
        <p:spPr>
          <a:xfrm>
            <a:off x="2468880" y="14173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CEM II A-M 42.5 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468880" y="1874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~433 J/g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ΔT 32–38°C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560320" y="2359152"/>
            <a:ext cx="1828800" cy="228600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560320" y="23591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HIGH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617720" y="1371600"/>
            <a:ext cx="2011680" cy="1280160"/>
          </a:xfrm>
          <a:prstGeom prst="rect">
            <a:avLst/>
          </a:prstGeom>
          <a:solidFill>
            <a:srgbClr val="1A9CB0"/>
          </a:solidFill>
          <a:ln w="12700">
            <a:solidFill>
              <a:srgbClr val="1A9CB0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1600"/>
          </a:p>
        </p:txBody>
      </p:sp>
      <p:sp>
        <p:nvSpPr>
          <p:cNvPr id="17" name="Text 15"/>
          <p:cNvSpPr/>
          <p:nvPr/>
        </p:nvSpPr>
        <p:spPr>
          <a:xfrm>
            <a:off x="4617720" y="14173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CEM II A-M 42.5 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617720" y="1874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~284 J/g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ΔT 25–28°C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709160" y="2359152"/>
            <a:ext cx="1828800" cy="228600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09160" y="23591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MODERATE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766560" y="1371600"/>
            <a:ext cx="2011680" cy="128016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1600"/>
          </a:p>
        </p:txBody>
      </p:sp>
      <p:sp>
        <p:nvSpPr>
          <p:cNvPr id="22" name="Text 20"/>
          <p:cNvSpPr/>
          <p:nvPr/>
        </p:nvSpPr>
        <p:spPr>
          <a:xfrm>
            <a:off x="6766560" y="14173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CEM II B-M 42.5 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766560" y="1874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~255 J/g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ΔT 22–25°C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858000" y="2359152"/>
            <a:ext cx="1828800" cy="228600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858000" y="23591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LOWEST RISK</a:t>
            </a:r>
            <a:endParaRPr lang="en-US" sz="1600" dirty="0"/>
          </a:p>
        </p:txBody>
      </p:sp>
      <p:sp>
        <p:nvSpPr>
          <p:cNvPr id="31" name="Text 9">
            <a:extLst>
              <a:ext uri="{FF2B5EF4-FFF2-40B4-BE49-F238E27FC236}">
                <a16:creationId xmlns:a16="http://schemas.microsoft.com/office/drawing/2014/main" id="{5869BB72-9D51-C019-C36E-77413AA8793C}"/>
              </a:ext>
            </a:extLst>
          </p:cNvPr>
          <p:cNvSpPr/>
          <p:nvPr/>
        </p:nvSpPr>
        <p:spPr>
          <a:xfrm>
            <a:off x="320040" y="4928616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Abdur Nur Tushar  •  2004061</a:t>
            </a:r>
            <a:endParaRPr lang="en-US" sz="800" dirty="0"/>
          </a:p>
        </p:txBody>
      </p:sp>
      <p:sp>
        <p:nvSpPr>
          <p:cNvPr id="33" name="Text 10">
            <a:extLst>
              <a:ext uri="{FF2B5EF4-FFF2-40B4-BE49-F238E27FC236}">
                <a16:creationId xmlns:a16="http://schemas.microsoft.com/office/drawing/2014/main" id="{07F961BE-858E-AEE3-1042-078E7D6F45BA}"/>
              </a:ext>
            </a:extLst>
          </p:cNvPr>
          <p:cNvSpPr/>
          <p:nvPr/>
        </p:nvSpPr>
        <p:spPr>
          <a:xfrm>
            <a:off x="5577840" y="4928616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Civil Engineering, BUET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20040" y="278892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20040" y="3090672"/>
            <a:ext cx="8671560" cy="1536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CEM II B-M 42.5 N is the safest choice for mass concrete in tropical Bangladesh (lowest ΔT).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Rapid-hardening CEM II A-M 42.5 R behaves closer to Portland cement than to normal composite — requires thermal management in large pours.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VCCTL confirms experimental rankings; over-prediction of blended cements is physically consistent with isothermal vs semi-adiabatic test differences.</a:t>
            </a:r>
            <a:endParaRPr lang="en-US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EDA7BB-E597-EDCB-3588-B02AED779720}"/>
              </a:ext>
            </a:extLst>
          </p:cNvPr>
          <p:cNvSpPr txBox="1"/>
          <p:nvPr/>
        </p:nvSpPr>
        <p:spPr>
          <a:xfrm>
            <a:off x="8229600" y="226736"/>
            <a:ext cx="45783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2004061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940E243-23F7-6F70-98B8-AF61665F033D}"/>
              </a:ext>
            </a:extLst>
          </p:cNvPr>
          <p:cNvSpPr txBox="1"/>
          <p:nvPr/>
        </p:nvSpPr>
        <p:spPr>
          <a:xfrm>
            <a:off x="4371975" y="4844534"/>
            <a:ext cx="4000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-120"/>
              </a:rPr>
              <a:t>31</a:t>
            </a:r>
            <a:endParaRPr lang="en-US" sz="1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15568"/>
          </a:xfrm>
          <a:prstGeom prst="rect">
            <a:avLst/>
          </a:prstGeom>
          <a:solidFill>
            <a:srgbClr val="1A7878"/>
          </a:solidFill>
          <a:ln w="12700">
            <a:solidFill>
              <a:srgbClr val="1A78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For Future Work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8092440" y="731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92608" y="1225296"/>
            <a:ext cx="4069080" cy="804672"/>
          </a:xfrm>
          <a:prstGeom prst="roundRect">
            <a:avLst>
              <a:gd name="adj" fmla="val 7955"/>
            </a:avLst>
          </a:prstGeom>
          <a:solidFill>
            <a:srgbClr val="EEF8F8"/>
          </a:solidFill>
          <a:ln w="6350">
            <a:solidFill>
              <a:srgbClr val="CC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92608" y="1261872"/>
            <a:ext cx="54864" cy="731520"/>
          </a:xfrm>
          <a:prstGeom prst="rect">
            <a:avLst/>
          </a:prstGeom>
          <a:solidFill>
            <a:srgbClr val="1A7878"/>
          </a:solidFill>
          <a:ln w="12700">
            <a:solidFill>
              <a:srgbClr val="1A78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11480" y="1316736"/>
            <a:ext cx="256032" cy="256032"/>
          </a:xfrm>
          <a:prstGeom prst="ellipse">
            <a:avLst/>
          </a:prstGeom>
          <a:solidFill>
            <a:srgbClr val="1A7878"/>
          </a:solidFill>
          <a:ln w="12700">
            <a:solidFill>
              <a:srgbClr val="1A78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13167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13232" y="12801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Material Testing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13232" y="154533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more cement brands &amp; batches; vary w/c (0.30, 0.45, 0.50); investigate elevated curing temperatures relevant to Bangladesh’s tropical climate.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0" y="1225296"/>
            <a:ext cx="4069080" cy="804672"/>
          </a:xfrm>
          <a:prstGeom prst="roundRect">
            <a:avLst>
              <a:gd name="adj" fmla="val 7955"/>
            </a:avLst>
          </a:prstGeom>
          <a:solidFill>
            <a:srgbClr val="EEF8F8"/>
          </a:solidFill>
          <a:ln w="6350">
            <a:solidFill>
              <a:srgbClr val="CC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72000" y="1261872"/>
            <a:ext cx="54864" cy="731520"/>
          </a:xfrm>
          <a:prstGeom prst="rect">
            <a:avLst/>
          </a:prstGeom>
          <a:solidFill>
            <a:srgbClr val="1A7878"/>
          </a:solidFill>
          <a:ln w="12700">
            <a:solidFill>
              <a:srgbClr val="1A78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690872" y="1316736"/>
            <a:ext cx="256032" cy="256032"/>
          </a:xfrm>
          <a:prstGeom prst="ellipse">
            <a:avLst/>
          </a:prstGeom>
          <a:solidFill>
            <a:srgbClr val="1A7878"/>
          </a:solidFill>
          <a:ln w="12700">
            <a:solidFill>
              <a:srgbClr val="1A78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690872" y="13167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92624" y="12801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Characterisation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992624" y="154533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Rietveld XRD for precise phase quantification; combine with XRF elemental analysis; use SEM, TGA &amp; FTIR to characterise hydration products.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92608" y="2103120"/>
            <a:ext cx="4069080" cy="804672"/>
          </a:xfrm>
          <a:prstGeom prst="roundRect">
            <a:avLst>
              <a:gd name="adj" fmla="val 7955"/>
            </a:avLst>
          </a:prstGeom>
          <a:solidFill>
            <a:srgbClr val="EEF8F8"/>
          </a:solidFill>
          <a:ln w="6350">
            <a:solidFill>
              <a:srgbClr val="CC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92608" y="2139696"/>
            <a:ext cx="54864" cy="731520"/>
          </a:xfrm>
          <a:prstGeom prst="rect">
            <a:avLst/>
          </a:prstGeom>
          <a:solidFill>
            <a:srgbClr val="1A7878"/>
          </a:solidFill>
          <a:ln w="12700">
            <a:solidFill>
              <a:srgbClr val="1A78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11480" y="2194560"/>
            <a:ext cx="256032" cy="256032"/>
          </a:xfrm>
          <a:prstGeom prst="ellipse">
            <a:avLst/>
          </a:prstGeom>
          <a:solidFill>
            <a:srgbClr val="1A7878"/>
          </a:solidFill>
          <a:ln w="12700">
            <a:solidFill>
              <a:srgbClr val="1A78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11480" y="21945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13232" y="215798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Scale-Up to Structural Level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13232" y="242316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from paste to mortar &amp; concrete; study aggregate thermal effects; assess influence of chemical admixtures (retarders, superplasticisers).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2103120"/>
            <a:ext cx="4069080" cy="804672"/>
          </a:xfrm>
          <a:prstGeom prst="roundRect">
            <a:avLst>
              <a:gd name="adj" fmla="val 7955"/>
            </a:avLst>
          </a:prstGeom>
          <a:solidFill>
            <a:srgbClr val="EEF8F8"/>
          </a:solidFill>
          <a:ln w="6350">
            <a:solidFill>
              <a:srgbClr val="CC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572000" y="2139696"/>
            <a:ext cx="54864" cy="731520"/>
          </a:xfrm>
          <a:prstGeom prst="rect">
            <a:avLst/>
          </a:prstGeom>
          <a:solidFill>
            <a:srgbClr val="1A7878"/>
          </a:solidFill>
          <a:ln w="12700">
            <a:solidFill>
              <a:srgbClr val="1A78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690872" y="2194560"/>
            <a:ext cx="256032" cy="256032"/>
          </a:xfrm>
          <a:prstGeom prst="ellipse">
            <a:avLst/>
          </a:prstGeom>
          <a:solidFill>
            <a:srgbClr val="1A7878"/>
          </a:solidFill>
          <a:ln w="12700">
            <a:solidFill>
              <a:srgbClr val="1A78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690872" y="21945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92624" y="215798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Modelling &amp; FEM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992624" y="242316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Gaussian &amp; polynomial heat models into finite-element solvers; apply Arrhenius activation-energy correction for field temperature prediction.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92608" y="2980944"/>
            <a:ext cx="4069080" cy="804672"/>
          </a:xfrm>
          <a:prstGeom prst="roundRect">
            <a:avLst>
              <a:gd name="adj" fmla="val 7955"/>
            </a:avLst>
          </a:prstGeom>
          <a:solidFill>
            <a:srgbClr val="EEF8F8"/>
          </a:solidFill>
          <a:ln w="6350">
            <a:solidFill>
              <a:srgbClr val="CC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292608" y="3017520"/>
            <a:ext cx="54864" cy="731520"/>
          </a:xfrm>
          <a:prstGeom prst="rect">
            <a:avLst/>
          </a:prstGeom>
          <a:solidFill>
            <a:srgbClr val="1A7878"/>
          </a:solidFill>
          <a:ln w="12700">
            <a:solidFill>
              <a:srgbClr val="1A78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11480" y="3072384"/>
            <a:ext cx="256032" cy="256032"/>
          </a:xfrm>
          <a:prstGeom prst="ellipse">
            <a:avLst/>
          </a:prstGeom>
          <a:solidFill>
            <a:srgbClr val="1A7878"/>
          </a:solidFill>
          <a:ln w="12700">
            <a:solidFill>
              <a:srgbClr val="1A78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11480" y="30723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13232" y="30358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VCCTL Improvement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13232" y="330098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quantitative phase data, measured PSD and Blaine fineness as inputs; compare isothermal, semi-adiabatic &amp; adiabatic outputs systematically.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0" y="2980944"/>
            <a:ext cx="4069080" cy="804672"/>
          </a:xfrm>
          <a:prstGeom prst="roundRect">
            <a:avLst>
              <a:gd name="adj" fmla="val 7955"/>
            </a:avLst>
          </a:prstGeom>
          <a:solidFill>
            <a:srgbClr val="EEF8F8"/>
          </a:solidFill>
          <a:ln w="6350">
            <a:solidFill>
              <a:srgbClr val="CC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572000" y="3017520"/>
            <a:ext cx="54864" cy="731520"/>
          </a:xfrm>
          <a:prstGeom prst="rect">
            <a:avLst/>
          </a:prstGeom>
          <a:solidFill>
            <a:srgbClr val="1A7878"/>
          </a:solidFill>
          <a:ln w="12700">
            <a:solidFill>
              <a:srgbClr val="1A78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690872" y="3072384"/>
            <a:ext cx="256032" cy="256032"/>
          </a:xfrm>
          <a:prstGeom prst="ellipse">
            <a:avLst/>
          </a:prstGeom>
          <a:solidFill>
            <a:srgbClr val="1A7878"/>
          </a:solidFill>
          <a:ln w="12700">
            <a:solidFill>
              <a:srgbClr val="1A78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690872" y="30723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992624" y="30358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Validation &amp; Guidelines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4992624" y="330098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temperature in real mass-concrete placements; develop a practical cement-selection guide for temperature-sensitive construction in Bangladesh.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274320" y="4864608"/>
            <a:ext cx="45720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Abdur Nur Tushar  •  2004061</a:t>
            </a:r>
            <a:endParaRPr lang="en-US" sz="1000" dirty="0">
              <a:solidFill>
                <a:schemeClr val="tx2"/>
              </a:solidFill>
            </a:endParaRPr>
          </a:p>
        </p:txBody>
      </p:sp>
      <p:sp>
        <p:nvSpPr>
          <p:cNvPr id="46" name="Text 44"/>
          <p:cNvSpPr/>
          <p:nvPr/>
        </p:nvSpPr>
        <p:spPr>
          <a:xfrm>
            <a:off x="4572000" y="4864608"/>
            <a:ext cx="425196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Civil Engineering, BUET</a:t>
            </a:r>
            <a:endParaRPr lang="en-US" sz="1000" dirty="0">
              <a:solidFill>
                <a:schemeClr val="tx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B88FC9-4876-7B9A-BE09-C17138FA5F93}"/>
              </a:ext>
            </a:extLst>
          </p:cNvPr>
          <p:cNvSpPr txBox="1"/>
          <p:nvPr/>
        </p:nvSpPr>
        <p:spPr>
          <a:xfrm>
            <a:off x="8229600" y="226736"/>
            <a:ext cx="45783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2004061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CB421F8-5E50-9A07-F8DF-094B257D8D6B}"/>
              </a:ext>
            </a:extLst>
          </p:cNvPr>
          <p:cNvSpPr txBox="1"/>
          <p:nvPr/>
        </p:nvSpPr>
        <p:spPr>
          <a:xfrm>
            <a:off x="4371975" y="4844534"/>
            <a:ext cx="4000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-120"/>
              </a:rPr>
              <a:t>32</a:t>
            </a:r>
            <a:endParaRPr lang="en-US" sz="1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15568"/>
          </a:xfrm>
          <a:prstGeom prst="rect">
            <a:avLst/>
          </a:prstGeom>
          <a:solidFill>
            <a:srgbClr val="1A7878"/>
          </a:solidFill>
          <a:ln w="12700">
            <a:solidFill>
              <a:srgbClr val="1A7878"/>
            </a:solidFill>
            <a:prstDash val="solid"/>
          </a:ln>
        </p:spPr>
        <p:txBody>
          <a:bodyPr/>
          <a:lstStyle/>
          <a:p>
            <a:r>
              <a:rPr lang="en-US" sz="28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of Hydration of Portland and Composite Cements Under Semi-Adiabatic Conditions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365760" y="722376"/>
            <a:ext cx="8046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0" y="128016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0" b="1" dirty="0">
                <a:solidFill>
                  <a:srgbClr val="1A7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200" dirty="0"/>
          </a:p>
        </p:txBody>
      </p:sp>
      <p:sp>
        <p:nvSpPr>
          <p:cNvPr id="7" name="Shape 5"/>
          <p:cNvSpPr/>
          <p:nvPr/>
        </p:nvSpPr>
        <p:spPr>
          <a:xfrm>
            <a:off x="2286000" y="2487168"/>
            <a:ext cx="4572000" cy="36576"/>
          </a:xfrm>
          <a:prstGeom prst="rect">
            <a:avLst/>
          </a:prstGeom>
          <a:solidFill>
            <a:srgbClr val="A8D8D8"/>
          </a:solidFill>
          <a:ln w="12700">
            <a:solidFill>
              <a:srgbClr val="A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0" y="2615184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Abdur Nur Tushar  </a:t>
            </a: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 </a:t>
            </a:r>
            <a:r>
              <a:rPr lang="en-US" sz="1400" b="1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Zisan Zia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0" y="294436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No. 2004061  &amp;  2004153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0" y="3310128"/>
            <a:ext cx="2194560" cy="27432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0" y="3401568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by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0" y="362102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7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Raquib Ahsan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0" y="3877056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Professor, Dept. of Civil Engineering, BUET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4498848"/>
            <a:ext cx="8595360" cy="219456"/>
          </a:xfrm>
          <a:prstGeom prst="roundRect">
            <a:avLst>
              <a:gd name="adj" fmla="val 20833"/>
            </a:avLst>
          </a:prstGeom>
          <a:solidFill>
            <a:srgbClr val="145F5F"/>
          </a:solidFill>
          <a:ln w="12700">
            <a:solidFill>
              <a:srgbClr val="145F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74320" y="4498848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Civil Engineering  •  Bangladesh University of Engineering and Technology  •  June 2026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74320" y="4864608"/>
            <a:ext cx="45720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Abdur Nur Tushar  •  2004061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0" y="4864608"/>
            <a:ext cx="425196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Civil Engineering, BUET</a:t>
            </a:r>
            <a:endParaRPr lang="en-US" sz="1000" dirty="0"/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FC7C5F7E-E37B-9804-1CC3-148E9553CF1F}"/>
              </a:ext>
            </a:extLst>
          </p:cNvPr>
          <p:cNvSpPr/>
          <p:nvPr/>
        </p:nvSpPr>
        <p:spPr>
          <a:xfrm>
            <a:off x="274320" y="4840297"/>
            <a:ext cx="45720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Abdur Nur Tushar  •  2004061</a:t>
            </a:r>
            <a:endParaRPr lang="en-US" sz="1000" dirty="0">
              <a:solidFill>
                <a:schemeClr val="tx2"/>
              </a:solidFill>
            </a:endParaRPr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F5E2A262-3A64-AA15-615E-8C5DF17D4BD0}"/>
              </a:ext>
            </a:extLst>
          </p:cNvPr>
          <p:cNvSpPr/>
          <p:nvPr/>
        </p:nvSpPr>
        <p:spPr>
          <a:xfrm>
            <a:off x="4572000" y="4840297"/>
            <a:ext cx="425196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Civil Engineering, BUET</a:t>
            </a:r>
            <a:endParaRPr lang="en-US" sz="1000" dirty="0">
              <a:solidFill>
                <a:schemeClr val="tx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5AE485-1205-B133-6A9B-2378DC9B664F}"/>
              </a:ext>
            </a:extLst>
          </p:cNvPr>
          <p:cNvSpPr txBox="1"/>
          <p:nvPr/>
        </p:nvSpPr>
        <p:spPr>
          <a:xfrm>
            <a:off x="4371975" y="4844534"/>
            <a:ext cx="4000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-120"/>
              </a:rPr>
              <a:t>33</a:t>
            </a:r>
            <a:endParaRPr lang="en-US" sz="1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763</TotalTime>
  <Words>2995</Words>
  <Application>Microsoft Office PowerPoint</Application>
  <PresentationFormat>On-screen Show (16:9)</PresentationFormat>
  <Paragraphs>588</Paragraphs>
  <Slides>33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33</vt:i4>
      </vt:variant>
    </vt:vector>
  </HeadingPairs>
  <TitlesOfParts>
    <vt:vector size="40" baseType="lpstr">
      <vt:lpstr>Aptos Display</vt:lpstr>
      <vt:lpstr>Arial</vt:lpstr>
      <vt:lpstr>Calibri</vt:lpstr>
      <vt:lpstr>Cambria</vt:lpstr>
      <vt:lpstr>Times New Roman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Heat of Hydration of Portland and Composite Cements</dc:title>
  <dc:subject>PptxGenJS Presentation</dc:subject>
  <dc:creator>Zisan Zia</dc:creator>
  <cp:lastModifiedBy>Abdur Nur Tushar</cp:lastModifiedBy>
  <cp:revision>23</cp:revision>
  <dcterms:created xsi:type="dcterms:W3CDTF">2026-06-11T05:25:00Z</dcterms:created>
  <dcterms:modified xsi:type="dcterms:W3CDTF">2026-06-13T06:34:34Z</dcterms:modified>
</cp:coreProperties>
</file>